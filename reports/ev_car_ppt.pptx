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8" d="100"/>
          <a:sy n="78" d="100"/>
        </p:scale>
        <p:origin x="77"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hyperlink" Target="https://amanxai.com/2024/02/15/data-visualization-rules-to-never-go-wrong/"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amanxai.com/2024/02/15/data-visualization-rules-to-never-go-wrong/"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41E4BB-A399-4075-A0CB-548159278EA5}" type="doc">
      <dgm:prSet loTypeId="urn:microsoft.com/office/officeart/2005/8/layout/vList5" loCatId="list" qsTypeId="urn:microsoft.com/office/officeart/2005/8/quickstyle/simple4" qsCatId="simple" csTypeId="urn:microsoft.com/office/officeart/2005/8/colors/accent1_2" csCatId="accent1"/>
      <dgm:spPr/>
      <dgm:t>
        <a:bodyPr/>
        <a:lstStyle/>
        <a:p>
          <a:endParaRPr lang="en-US"/>
        </a:p>
      </dgm:t>
    </dgm:pt>
    <dgm:pt modelId="{C5BEAF93-C96C-43E0-AC09-67C2F5F069DC}">
      <dgm:prSet/>
      <dgm:spPr/>
      <dgm:t>
        <a:bodyPr/>
        <a:lstStyle/>
        <a:p>
          <a:r>
            <a:rPr lang="en-US" b="0" i="0"/>
            <a:t>Market size analysis for electric vehicles involves a multi-step process that includes defining the market scope, collecting and preparing data, analytical modelling, and communicating findings through </a:t>
          </a:r>
          <a:r>
            <a:rPr lang="en-US" b="1" i="0" u="sng">
              <a:hlinkClick xmlns:r="http://schemas.openxmlformats.org/officeDocument/2006/relationships" r:id="rId1"/>
            </a:rPr>
            <a:t>visualization</a:t>
          </a:r>
          <a:r>
            <a:rPr lang="en-US" b="0" i="0"/>
            <a:t> and reporting. Below is the process you can follow for the task of electric vehicles market size analysis:</a:t>
          </a:r>
          <a:endParaRPr lang="en-US"/>
        </a:p>
      </dgm:t>
    </dgm:pt>
    <dgm:pt modelId="{B58119D8-35D2-4780-BD15-544AF30C02AE}" type="parTrans" cxnId="{530EA707-D9CA-4B43-BFCF-D00A7F1C1AF9}">
      <dgm:prSet/>
      <dgm:spPr/>
      <dgm:t>
        <a:bodyPr/>
        <a:lstStyle/>
        <a:p>
          <a:endParaRPr lang="en-US"/>
        </a:p>
      </dgm:t>
    </dgm:pt>
    <dgm:pt modelId="{E58C4334-88A4-4C0A-A27B-F889416B9008}" type="sibTrans" cxnId="{530EA707-D9CA-4B43-BFCF-D00A7F1C1AF9}">
      <dgm:prSet/>
      <dgm:spPr/>
      <dgm:t>
        <a:bodyPr/>
        <a:lstStyle/>
        <a:p>
          <a:endParaRPr lang="en-US"/>
        </a:p>
      </dgm:t>
    </dgm:pt>
    <dgm:pt modelId="{CA309BF1-61E6-4A7E-BC87-A0487B7952AC}">
      <dgm:prSet/>
      <dgm:spPr/>
      <dgm:t>
        <a:bodyPr/>
        <a:lstStyle/>
        <a:p>
          <a:r>
            <a:rPr lang="en-US" b="0" i="0" dirty="0"/>
            <a:t>Define whether the analysis is global, regional, or focused on specific countries.</a:t>
          </a:r>
          <a:endParaRPr lang="en-US" dirty="0"/>
        </a:p>
      </dgm:t>
    </dgm:pt>
    <dgm:pt modelId="{261F4337-4103-4203-AFE0-CC1D7D7DB088}" type="parTrans" cxnId="{F2BEC86E-54D8-4A68-BEFF-A9DDA463805E}">
      <dgm:prSet/>
      <dgm:spPr/>
      <dgm:t>
        <a:bodyPr/>
        <a:lstStyle/>
        <a:p>
          <a:endParaRPr lang="en-US"/>
        </a:p>
      </dgm:t>
    </dgm:pt>
    <dgm:pt modelId="{EFA8F1CB-5555-43E5-AAE2-F928D49169EF}" type="sibTrans" cxnId="{F2BEC86E-54D8-4A68-BEFF-A9DDA463805E}">
      <dgm:prSet/>
      <dgm:spPr/>
      <dgm:t>
        <a:bodyPr/>
        <a:lstStyle/>
        <a:p>
          <a:endParaRPr lang="en-US"/>
        </a:p>
      </dgm:t>
    </dgm:pt>
    <dgm:pt modelId="{2D6A9ACD-3D56-432A-BE0A-FF7F3F97A9AE}">
      <dgm:prSet/>
      <dgm:spPr/>
      <dgm:t>
        <a:bodyPr/>
        <a:lstStyle/>
        <a:p>
          <a:r>
            <a:rPr lang="en-US" b="0" i="0"/>
            <a:t>Gather information from industry associations, market research firms (e.g., BloombergNEF, IEA), and government publications relevant to the EV market.</a:t>
          </a:r>
          <a:endParaRPr lang="en-US"/>
        </a:p>
      </dgm:t>
    </dgm:pt>
    <dgm:pt modelId="{5F062EE3-C590-41CB-BD8D-992A498DFE71}" type="parTrans" cxnId="{49FDC952-DF54-422B-9D41-CD9E25BD0BC0}">
      <dgm:prSet/>
      <dgm:spPr/>
      <dgm:t>
        <a:bodyPr/>
        <a:lstStyle/>
        <a:p>
          <a:endParaRPr lang="en-US"/>
        </a:p>
      </dgm:t>
    </dgm:pt>
    <dgm:pt modelId="{95BDEBFD-C5E9-48B2-BEC1-08945AF13F9B}" type="sibTrans" cxnId="{49FDC952-DF54-422B-9D41-CD9E25BD0BC0}">
      <dgm:prSet/>
      <dgm:spPr/>
      <dgm:t>
        <a:bodyPr/>
        <a:lstStyle/>
        <a:p>
          <a:endParaRPr lang="en-US"/>
        </a:p>
      </dgm:t>
    </dgm:pt>
    <dgm:pt modelId="{D7C67970-3F98-4716-A5A8-72BFD8BAB915}">
      <dgm:prSet/>
      <dgm:spPr/>
      <dgm:t>
        <a:bodyPr/>
        <a:lstStyle/>
        <a:p>
          <a:r>
            <a:rPr lang="en-US" b="0" i="0"/>
            <a:t>Use historical data to identify trends in EV sales, production, and market.</a:t>
          </a:r>
          <a:endParaRPr lang="en-US"/>
        </a:p>
      </dgm:t>
    </dgm:pt>
    <dgm:pt modelId="{8CFD9AC0-6166-43FA-A3D4-D8AB31D306CE}" type="parTrans" cxnId="{8E44D9AF-BCA6-4B36-82E4-F3FF7F62D80A}">
      <dgm:prSet/>
      <dgm:spPr/>
      <dgm:t>
        <a:bodyPr/>
        <a:lstStyle/>
        <a:p>
          <a:endParaRPr lang="en-US"/>
        </a:p>
      </dgm:t>
    </dgm:pt>
    <dgm:pt modelId="{88DA4D83-2285-48BC-85B9-845FC0F247C2}" type="sibTrans" cxnId="{8E44D9AF-BCA6-4B36-82E4-F3FF7F62D80A}">
      <dgm:prSet/>
      <dgm:spPr/>
      <dgm:t>
        <a:bodyPr/>
        <a:lstStyle/>
        <a:p>
          <a:endParaRPr lang="en-US"/>
        </a:p>
      </dgm:t>
    </dgm:pt>
    <dgm:pt modelId="{C44EE76D-6ABD-4486-AE44-0982DFF1140D}">
      <dgm:prSet/>
      <dgm:spPr/>
      <dgm:t>
        <a:bodyPr/>
        <a:lstStyle/>
        <a:p>
          <a:r>
            <a:rPr lang="en-US" b="0" i="0"/>
            <a:t>Analyze the market size and growth rates for different EV segments.</a:t>
          </a:r>
          <a:endParaRPr lang="en-US"/>
        </a:p>
      </dgm:t>
    </dgm:pt>
    <dgm:pt modelId="{F7E597CB-78E6-4935-9A4B-0A67A881DF67}" type="parTrans" cxnId="{4A2F6AA1-DFDF-4AC6-8BBE-21A1C3A37327}">
      <dgm:prSet/>
      <dgm:spPr/>
      <dgm:t>
        <a:bodyPr/>
        <a:lstStyle/>
        <a:p>
          <a:endParaRPr lang="en-US"/>
        </a:p>
      </dgm:t>
    </dgm:pt>
    <dgm:pt modelId="{D598DBD2-3AB6-4D27-B6DF-D51A96BD76D3}" type="sibTrans" cxnId="{4A2F6AA1-DFDF-4AC6-8BBE-21A1C3A37327}">
      <dgm:prSet/>
      <dgm:spPr/>
      <dgm:t>
        <a:bodyPr/>
        <a:lstStyle/>
        <a:p>
          <a:endParaRPr lang="en-US"/>
        </a:p>
      </dgm:t>
    </dgm:pt>
    <dgm:pt modelId="{02ED9B18-C3F6-43E9-8AA7-284D2290D6BE}">
      <dgm:prSet/>
      <dgm:spPr/>
      <dgm:t>
        <a:bodyPr/>
        <a:lstStyle/>
        <a:p>
          <a:r>
            <a:rPr lang="en-US" b="0" i="0"/>
            <a:t>Based on the market size analysis, provide strategic recommendations for businesses looking to enter or expand in the EV market.</a:t>
          </a:r>
          <a:endParaRPr lang="en-US"/>
        </a:p>
      </dgm:t>
    </dgm:pt>
    <dgm:pt modelId="{2EC3BAA7-D352-450A-B933-18A39B2461F6}" type="parTrans" cxnId="{312399DD-F357-4CE5-B2BD-CA707AA67A06}">
      <dgm:prSet/>
      <dgm:spPr/>
      <dgm:t>
        <a:bodyPr/>
        <a:lstStyle/>
        <a:p>
          <a:endParaRPr lang="en-US"/>
        </a:p>
      </dgm:t>
    </dgm:pt>
    <dgm:pt modelId="{B8B3DF80-7BC7-464B-A00A-6084209FEDC6}" type="sibTrans" cxnId="{312399DD-F357-4CE5-B2BD-CA707AA67A06}">
      <dgm:prSet/>
      <dgm:spPr/>
      <dgm:t>
        <a:bodyPr/>
        <a:lstStyle/>
        <a:p>
          <a:endParaRPr lang="en-US"/>
        </a:p>
      </dgm:t>
    </dgm:pt>
    <dgm:pt modelId="{8D6AFCDB-F47E-427E-8F97-700394FAAB17}" type="pres">
      <dgm:prSet presAssocID="{2941E4BB-A399-4075-A0CB-548159278EA5}" presName="Name0" presStyleCnt="0">
        <dgm:presLayoutVars>
          <dgm:dir/>
          <dgm:animLvl val="lvl"/>
          <dgm:resizeHandles val="exact"/>
        </dgm:presLayoutVars>
      </dgm:prSet>
      <dgm:spPr/>
    </dgm:pt>
    <dgm:pt modelId="{03DC1E0E-7C66-4285-BD16-7EE5F940C9DF}" type="pres">
      <dgm:prSet presAssocID="{C5BEAF93-C96C-43E0-AC09-67C2F5F069DC}" presName="linNode" presStyleCnt="0"/>
      <dgm:spPr/>
    </dgm:pt>
    <dgm:pt modelId="{95049F2C-58D9-4C2C-80CD-AC9A556C2DA3}" type="pres">
      <dgm:prSet presAssocID="{C5BEAF93-C96C-43E0-AC09-67C2F5F069DC}" presName="parentText" presStyleLbl="node1" presStyleIdx="0" presStyleCnt="6">
        <dgm:presLayoutVars>
          <dgm:chMax val="1"/>
          <dgm:bulletEnabled val="1"/>
        </dgm:presLayoutVars>
      </dgm:prSet>
      <dgm:spPr/>
    </dgm:pt>
    <dgm:pt modelId="{E8396650-FAB4-42AA-AE88-2C4DEE36F500}" type="pres">
      <dgm:prSet presAssocID="{E58C4334-88A4-4C0A-A27B-F889416B9008}" presName="sp" presStyleCnt="0"/>
      <dgm:spPr/>
    </dgm:pt>
    <dgm:pt modelId="{596B0320-E156-4C5F-A1CA-721ABF70C7C9}" type="pres">
      <dgm:prSet presAssocID="{CA309BF1-61E6-4A7E-BC87-A0487B7952AC}" presName="linNode" presStyleCnt="0"/>
      <dgm:spPr/>
    </dgm:pt>
    <dgm:pt modelId="{E81F9FAA-062B-4472-97C0-3B068C898717}" type="pres">
      <dgm:prSet presAssocID="{CA309BF1-61E6-4A7E-BC87-A0487B7952AC}" presName="parentText" presStyleLbl="node1" presStyleIdx="1" presStyleCnt="6">
        <dgm:presLayoutVars>
          <dgm:chMax val="1"/>
          <dgm:bulletEnabled val="1"/>
        </dgm:presLayoutVars>
      </dgm:prSet>
      <dgm:spPr/>
    </dgm:pt>
    <dgm:pt modelId="{CDAC4CBD-495F-4B97-9A5B-221BEE9A8CFB}" type="pres">
      <dgm:prSet presAssocID="{EFA8F1CB-5555-43E5-AAE2-F928D49169EF}" presName="sp" presStyleCnt="0"/>
      <dgm:spPr/>
    </dgm:pt>
    <dgm:pt modelId="{18EA311F-93D9-4DAC-9E2D-D3F7BD800E72}" type="pres">
      <dgm:prSet presAssocID="{2D6A9ACD-3D56-432A-BE0A-FF7F3F97A9AE}" presName="linNode" presStyleCnt="0"/>
      <dgm:spPr/>
    </dgm:pt>
    <dgm:pt modelId="{3BA4DB3A-896A-4923-8135-4C192F4F7ED9}" type="pres">
      <dgm:prSet presAssocID="{2D6A9ACD-3D56-432A-BE0A-FF7F3F97A9AE}" presName="parentText" presStyleLbl="node1" presStyleIdx="2" presStyleCnt="6">
        <dgm:presLayoutVars>
          <dgm:chMax val="1"/>
          <dgm:bulletEnabled val="1"/>
        </dgm:presLayoutVars>
      </dgm:prSet>
      <dgm:spPr/>
    </dgm:pt>
    <dgm:pt modelId="{8F069C68-292E-4FFB-ABD1-A14D8FCC608F}" type="pres">
      <dgm:prSet presAssocID="{95BDEBFD-C5E9-48B2-BEC1-08945AF13F9B}" presName="sp" presStyleCnt="0"/>
      <dgm:spPr/>
    </dgm:pt>
    <dgm:pt modelId="{79021478-0F17-4B7E-B191-60DF60A36D60}" type="pres">
      <dgm:prSet presAssocID="{D7C67970-3F98-4716-A5A8-72BFD8BAB915}" presName="linNode" presStyleCnt="0"/>
      <dgm:spPr/>
    </dgm:pt>
    <dgm:pt modelId="{3800F3EE-FEB1-41F2-ACE3-D6E2DF50D97D}" type="pres">
      <dgm:prSet presAssocID="{D7C67970-3F98-4716-A5A8-72BFD8BAB915}" presName="parentText" presStyleLbl="node1" presStyleIdx="3" presStyleCnt="6">
        <dgm:presLayoutVars>
          <dgm:chMax val="1"/>
          <dgm:bulletEnabled val="1"/>
        </dgm:presLayoutVars>
      </dgm:prSet>
      <dgm:spPr/>
    </dgm:pt>
    <dgm:pt modelId="{20CE8A80-BC3D-441E-9841-79570F118CD7}" type="pres">
      <dgm:prSet presAssocID="{88DA4D83-2285-48BC-85B9-845FC0F247C2}" presName="sp" presStyleCnt="0"/>
      <dgm:spPr/>
    </dgm:pt>
    <dgm:pt modelId="{C536ABA6-4BBC-4C08-A4A6-00CD84A88A45}" type="pres">
      <dgm:prSet presAssocID="{C44EE76D-6ABD-4486-AE44-0982DFF1140D}" presName="linNode" presStyleCnt="0"/>
      <dgm:spPr/>
    </dgm:pt>
    <dgm:pt modelId="{CA0F89C6-FFCC-4327-A9A1-90E9F4A6F317}" type="pres">
      <dgm:prSet presAssocID="{C44EE76D-6ABD-4486-AE44-0982DFF1140D}" presName="parentText" presStyleLbl="node1" presStyleIdx="4" presStyleCnt="6">
        <dgm:presLayoutVars>
          <dgm:chMax val="1"/>
          <dgm:bulletEnabled val="1"/>
        </dgm:presLayoutVars>
      </dgm:prSet>
      <dgm:spPr/>
    </dgm:pt>
    <dgm:pt modelId="{50087CD6-36B8-4351-B94E-1A9AF06CE252}" type="pres">
      <dgm:prSet presAssocID="{D598DBD2-3AB6-4D27-B6DF-D51A96BD76D3}" presName="sp" presStyleCnt="0"/>
      <dgm:spPr/>
    </dgm:pt>
    <dgm:pt modelId="{5C35308E-4732-4BF6-B52A-FF888C78F46B}" type="pres">
      <dgm:prSet presAssocID="{02ED9B18-C3F6-43E9-8AA7-284D2290D6BE}" presName="linNode" presStyleCnt="0"/>
      <dgm:spPr/>
    </dgm:pt>
    <dgm:pt modelId="{EC314D22-E9A0-4D67-B33C-90A74DE80B92}" type="pres">
      <dgm:prSet presAssocID="{02ED9B18-C3F6-43E9-8AA7-284D2290D6BE}" presName="parentText" presStyleLbl="node1" presStyleIdx="5" presStyleCnt="6">
        <dgm:presLayoutVars>
          <dgm:chMax val="1"/>
          <dgm:bulletEnabled val="1"/>
        </dgm:presLayoutVars>
      </dgm:prSet>
      <dgm:spPr/>
    </dgm:pt>
  </dgm:ptLst>
  <dgm:cxnLst>
    <dgm:cxn modelId="{F7A29404-AB01-438A-96BC-E388E2FB7C8C}" type="presOf" srcId="{C5BEAF93-C96C-43E0-AC09-67C2F5F069DC}" destId="{95049F2C-58D9-4C2C-80CD-AC9A556C2DA3}" srcOrd="0" destOrd="0" presId="urn:microsoft.com/office/officeart/2005/8/layout/vList5"/>
    <dgm:cxn modelId="{530EA707-D9CA-4B43-BFCF-D00A7F1C1AF9}" srcId="{2941E4BB-A399-4075-A0CB-548159278EA5}" destId="{C5BEAF93-C96C-43E0-AC09-67C2F5F069DC}" srcOrd="0" destOrd="0" parTransId="{B58119D8-35D2-4780-BD15-544AF30C02AE}" sibTransId="{E58C4334-88A4-4C0A-A27B-F889416B9008}"/>
    <dgm:cxn modelId="{1F2BE809-ABE0-4F6E-BCE5-993152D16759}" type="presOf" srcId="{2D6A9ACD-3D56-432A-BE0A-FF7F3F97A9AE}" destId="{3BA4DB3A-896A-4923-8135-4C192F4F7ED9}" srcOrd="0" destOrd="0" presId="urn:microsoft.com/office/officeart/2005/8/layout/vList5"/>
    <dgm:cxn modelId="{F2BEC86E-54D8-4A68-BEFF-A9DDA463805E}" srcId="{2941E4BB-A399-4075-A0CB-548159278EA5}" destId="{CA309BF1-61E6-4A7E-BC87-A0487B7952AC}" srcOrd="1" destOrd="0" parTransId="{261F4337-4103-4203-AFE0-CC1D7D7DB088}" sibTransId="{EFA8F1CB-5555-43E5-AAE2-F928D49169EF}"/>
    <dgm:cxn modelId="{49FDC952-DF54-422B-9D41-CD9E25BD0BC0}" srcId="{2941E4BB-A399-4075-A0CB-548159278EA5}" destId="{2D6A9ACD-3D56-432A-BE0A-FF7F3F97A9AE}" srcOrd="2" destOrd="0" parTransId="{5F062EE3-C590-41CB-BD8D-992A498DFE71}" sibTransId="{95BDEBFD-C5E9-48B2-BEC1-08945AF13F9B}"/>
    <dgm:cxn modelId="{4A2F6AA1-DFDF-4AC6-8BBE-21A1C3A37327}" srcId="{2941E4BB-A399-4075-A0CB-548159278EA5}" destId="{C44EE76D-6ABD-4486-AE44-0982DFF1140D}" srcOrd="4" destOrd="0" parTransId="{F7E597CB-78E6-4935-9A4B-0A67A881DF67}" sibTransId="{D598DBD2-3AB6-4D27-B6DF-D51A96BD76D3}"/>
    <dgm:cxn modelId="{73B21DA2-44A8-4728-A430-FD06FCB19B53}" type="presOf" srcId="{D7C67970-3F98-4716-A5A8-72BFD8BAB915}" destId="{3800F3EE-FEB1-41F2-ACE3-D6E2DF50D97D}" srcOrd="0" destOrd="0" presId="urn:microsoft.com/office/officeart/2005/8/layout/vList5"/>
    <dgm:cxn modelId="{3737EFAB-52CE-4686-8343-60741BACCAD4}" type="presOf" srcId="{02ED9B18-C3F6-43E9-8AA7-284D2290D6BE}" destId="{EC314D22-E9A0-4D67-B33C-90A74DE80B92}" srcOrd="0" destOrd="0" presId="urn:microsoft.com/office/officeart/2005/8/layout/vList5"/>
    <dgm:cxn modelId="{8E44D9AF-BCA6-4B36-82E4-F3FF7F62D80A}" srcId="{2941E4BB-A399-4075-A0CB-548159278EA5}" destId="{D7C67970-3F98-4716-A5A8-72BFD8BAB915}" srcOrd="3" destOrd="0" parTransId="{8CFD9AC0-6166-43FA-A3D4-D8AB31D306CE}" sibTransId="{88DA4D83-2285-48BC-85B9-845FC0F247C2}"/>
    <dgm:cxn modelId="{EE66B5B5-2F97-42EC-848B-4D6B93F9952C}" type="presOf" srcId="{C44EE76D-6ABD-4486-AE44-0982DFF1140D}" destId="{CA0F89C6-FFCC-4327-A9A1-90E9F4A6F317}" srcOrd="0" destOrd="0" presId="urn:microsoft.com/office/officeart/2005/8/layout/vList5"/>
    <dgm:cxn modelId="{814594C4-1C1F-473A-8840-EF376F9365B0}" type="presOf" srcId="{CA309BF1-61E6-4A7E-BC87-A0487B7952AC}" destId="{E81F9FAA-062B-4472-97C0-3B068C898717}" srcOrd="0" destOrd="0" presId="urn:microsoft.com/office/officeart/2005/8/layout/vList5"/>
    <dgm:cxn modelId="{312399DD-F357-4CE5-B2BD-CA707AA67A06}" srcId="{2941E4BB-A399-4075-A0CB-548159278EA5}" destId="{02ED9B18-C3F6-43E9-8AA7-284D2290D6BE}" srcOrd="5" destOrd="0" parTransId="{2EC3BAA7-D352-450A-B933-18A39B2461F6}" sibTransId="{B8B3DF80-7BC7-464B-A00A-6084209FEDC6}"/>
    <dgm:cxn modelId="{56F04EEC-9CAC-4B3B-B28E-FB49C52C2348}" type="presOf" srcId="{2941E4BB-A399-4075-A0CB-548159278EA5}" destId="{8D6AFCDB-F47E-427E-8F97-700394FAAB17}" srcOrd="0" destOrd="0" presId="urn:microsoft.com/office/officeart/2005/8/layout/vList5"/>
    <dgm:cxn modelId="{04ACB393-4F79-44D9-92C1-8EDB5BA5A9D9}" type="presParOf" srcId="{8D6AFCDB-F47E-427E-8F97-700394FAAB17}" destId="{03DC1E0E-7C66-4285-BD16-7EE5F940C9DF}" srcOrd="0" destOrd="0" presId="urn:microsoft.com/office/officeart/2005/8/layout/vList5"/>
    <dgm:cxn modelId="{99752CDC-8597-45FE-9CD2-79DB26794CD3}" type="presParOf" srcId="{03DC1E0E-7C66-4285-BD16-7EE5F940C9DF}" destId="{95049F2C-58D9-4C2C-80CD-AC9A556C2DA3}" srcOrd="0" destOrd="0" presId="urn:microsoft.com/office/officeart/2005/8/layout/vList5"/>
    <dgm:cxn modelId="{B18446A1-E15E-4974-A48D-49D88390F372}" type="presParOf" srcId="{8D6AFCDB-F47E-427E-8F97-700394FAAB17}" destId="{E8396650-FAB4-42AA-AE88-2C4DEE36F500}" srcOrd="1" destOrd="0" presId="urn:microsoft.com/office/officeart/2005/8/layout/vList5"/>
    <dgm:cxn modelId="{D8637D8F-F5F2-48D6-B868-7FEDF412721F}" type="presParOf" srcId="{8D6AFCDB-F47E-427E-8F97-700394FAAB17}" destId="{596B0320-E156-4C5F-A1CA-721ABF70C7C9}" srcOrd="2" destOrd="0" presId="urn:microsoft.com/office/officeart/2005/8/layout/vList5"/>
    <dgm:cxn modelId="{BB7F4D58-4E0F-4DD3-BFB8-CBE514DD8266}" type="presParOf" srcId="{596B0320-E156-4C5F-A1CA-721ABF70C7C9}" destId="{E81F9FAA-062B-4472-97C0-3B068C898717}" srcOrd="0" destOrd="0" presId="urn:microsoft.com/office/officeart/2005/8/layout/vList5"/>
    <dgm:cxn modelId="{6DC8F7BE-85D7-476B-AB19-569944642E3B}" type="presParOf" srcId="{8D6AFCDB-F47E-427E-8F97-700394FAAB17}" destId="{CDAC4CBD-495F-4B97-9A5B-221BEE9A8CFB}" srcOrd="3" destOrd="0" presId="urn:microsoft.com/office/officeart/2005/8/layout/vList5"/>
    <dgm:cxn modelId="{BA6A61E9-62F6-4267-990C-0729774793B6}" type="presParOf" srcId="{8D6AFCDB-F47E-427E-8F97-700394FAAB17}" destId="{18EA311F-93D9-4DAC-9E2D-D3F7BD800E72}" srcOrd="4" destOrd="0" presId="urn:microsoft.com/office/officeart/2005/8/layout/vList5"/>
    <dgm:cxn modelId="{37D26FB0-7840-4AAB-8295-EA63499E7AAD}" type="presParOf" srcId="{18EA311F-93D9-4DAC-9E2D-D3F7BD800E72}" destId="{3BA4DB3A-896A-4923-8135-4C192F4F7ED9}" srcOrd="0" destOrd="0" presId="urn:microsoft.com/office/officeart/2005/8/layout/vList5"/>
    <dgm:cxn modelId="{58473F34-9381-4D16-B26D-F4BC12EAA53A}" type="presParOf" srcId="{8D6AFCDB-F47E-427E-8F97-700394FAAB17}" destId="{8F069C68-292E-4FFB-ABD1-A14D8FCC608F}" srcOrd="5" destOrd="0" presId="urn:microsoft.com/office/officeart/2005/8/layout/vList5"/>
    <dgm:cxn modelId="{02548490-D0C8-4FF2-AF14-02EA0A98BDFB}" type="presParOf" srcId="{8D6AFCDB-F47E-427E-8F97-700394FAAB17}" destId="{79021478-0F17-4B7E-B191-60DF60A36D60}" srcOrd="6" destOrd="0" presId="urn:microsoft.com/office/officeart/2005/8/layout/vList5"/>
    <dgm:cxn modelId="{247CCFA1-4E7B-4363-AB24-46715878BEF8}" type="presParOf" srcId="{79021478-0F17-4B7E-B191-60DF60A36D60}" destId="{3800F3EE-FEB1-41F2-ACE3-D6E2DF50D97D}" srcOrd="0" destOrd="0" presId="urn:microsoft.com/office/officeart/2005/8/layout/vList5"/>
    <dgm:cxn modelId="{3BC10DC6-9125-460E-AC61-04B0A49ABA8F}" type="presParOf" srcId="{8D6AFCDB-F47E-427E-8F97-700394FAAB17}" destId="{20CE8A80-BC3D-441E-9841-79570F118CD7}" srcOrd="7" destOrd="0" presId="urn:microsoft.com/office/officeart/2005/8/layout/vList5"/>
    <dgm:cxn modelId="{8A5A55B3-630C-43DF-8D99-6C9E58545A2A}" type="presParOf" srcId="{8D6AFCDB-F47E-427E-8F97-700394FAAB17}" destId="{C536ABA6-4BBC-4C08-A4A6-00CD84A88A45}" srcOrd="8" destOrd="0" presId="urn:microsoft.com/office/officeart/2005/8/layout/vList5"/>
    <dgm:cxn modelId="{F8426C0D-37DA-47A6-901D-63AD99016C59}" type="presParOf" srcId="{C536ABA6-4BBC-4C08-A4A6-00CD84A88A45}" destId="{CA0F89C6-FFCC-4327-A9A1-90E9F4A6F317}" srcOrd="0" destOrd="0" presId="urn:microsoft.com/office/officeart/2005/8/layout/vList5"/>
    <dgm:cxn modelId="{C7ABE611-0403-4239-9E35-DC273B25EF43}" type="presParOf" srcId="{8D6AFCDB-F47E-427E-8F97-700394FAAB17}" destId="{50087CD6-36B8-4351-B94E-1A9AF06CE252}" srcOrd="9" destOrd="0" presId="urn:microsoft.com/office/officeart/2005/8/layout/vList5"/>
    <dgm:cxn modelId="{56A2FE3B-FAB1-4E1B-BCB9-6584063BDF26}" type="presParOf" srcId="{8D6AFCDB-F47E-427E-8F97-700394FAAB17}" destId="{5C35308E-4732-4BF6-B52A-FF888C78F46B}" srcOrd="10" destOrd="0" presId="urn:microsoft.com/office/officeart/2005/8/layout/vList5"/>
    <dgm:cxn modelId="{F8DB3119-D574-4DEA-B0DB-7AABA6A3B825}" type="presParOf" srcId="{5C35308E-4732-4BF6-B52A-FF888C78F46B}" destId="{EC314D22-E9A0-4D67-B33C-90A74DE80B92}"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A81897-F90F-435B-ADB6-FDE1E6A0741E}" type="doc">
      <dgm:prSet loTypeId="urn:microsoft.com/office/officeart/2005/8/layout/lProcess3" loCatId="process" qsTypeId="urn:microsoft.com/office/officeart/2005/8/quickstyle/simple1" qsCatId="simple" csTypeId="urn:microsoft.com/office/officeart/2005/8/colors/accent1_2" csCatId="accent1"/>
      <dgm:spPr/>
      <dgm:t>
        <a:bodyPr/>
        <a:lstStyle/>
        <a:p>
          <a:endParaRPr lang="en-US"/>
        </a:p>
      </dgm:t>
    </dgm:pt>
    <dgm:pt modelId="{EF4198FB-824E-43E5-97BD-943B882133B5}">
      <dgm:prSet/>
      <dgm:spPr/>
      <dgm:t>
        <a:bodyPr/>
        <a:lstStyle/>
        <a:p>
          <a:r>
            <a:rPr lang="en-US" b="0" i="0"/>
            <a:t>From the above bar chart, it’s clear that EV adoption has been increasing over time, especially noting a significant upward trend starting around 2016. The number of vehicles registered grows modestly up until that point and then begins to rise more rapidly from 2017 onwards. The year 2023 shows a particularly sharp increase in the number of registered EVs, with the bar for 2023 being the highest on the graph, indicating a peak in EV adoption.</a:t>
          </a:r>
          <a:endParaRPr lang="en-US"/>
        </a:p>
      </dgm:t>
    </dgm:pt>
    <dgm:pt modelId="{0A548DC0-C15F-4C23-A150-34948575ED69}" type="parTrans" cxnId="{2443E143-50E4-4C52-8BEB-29F225448B5D}">
      <dgm:prSet/>
      <dgm:spPr/>
      <dgm:t>
        <a:bodyPr/>
        <a:lstStyle/>
        <a:p>
          <a:endParaRPr lang="en-US"/>
        </a:p>
      </dgm:t>
    </dgm:pt>
    <dgm:pt modelId="{AD672F00-C13C-4337-89F1-68EDA5705E36}" type="sibTrans" cxnId="{2443E143-50E4-4C52-8BEB-29F225448B5D}">
      <dgm:prSet/>
      <dgm:spPr/>
      <dgm:t>
        <a:bodyPr/>
        <a:lstStyle/>
        <a:p>
          <a:endParaRPr lang="en-US"/>
        </a:p>
      </dgm:t>
    </dgm:pt>
    <dgm:pt modelId="{8CCE315F-C586-4C95-AFF8-A32E2ABBE891}" type="pres">
      <dgm:prSet presAssocID="{0AA81897-F90F-435B-ADB6-FDE1E6A0741E}" presName="Name0" presStyleCnt="0">
        <dgm:presLayoutVars>
          <dgm:chPref val="3"/>
          <dgm:dir/>
          <dgm:animLvl val="lvl"/>
          <dgm:resizeHandles/>
        </dgm:presLayoutVars>
      </dgm:prSet>
      <dgm:spPr/>
    </dgm:pt>
    <dgm:pt modelId="{2CFA1035-74B0-4D6B-950C-46B8D2887A2D}" type="pres">
      <dgm:prSet presAssocID="{EF4198FB-824E-43E5-97BD-943B882133B5}" presName="horFlow" presStyleCnt="0"/>
      <dgm:spPr/>
    </dgm:pt>
    <dgm:pt modelId="{A7169FA9-7316-4941-8AC9-D7EA571370E0}" type="pres">
      <dgm:prSet presAssocID="{EF4198FB-824E-43E5-97BD-943B882133B5}" presName="bigChev" presStyleLbl="node1" presStyleIdx="0" presStyleCnt="1"/>
      <dgm:spPr/>
    </dgm:pt>
  </dgm:ptLst>
  <dgm:cxnLst>
    <dgm:cxn modelId="{2443E143-50E4-4C52-8BEB-29F225448B5D}" srcId="{0AA81897-F90F-435B-ADB6-FDE1E6A0741E}" destId="{EF4198FB-824E-43E5-97BD-943B882133B5}" srcOrd="0" destOrd="0" parTransId="{0A548DC0-C15F-4C23-A150-34948575ED69}" sibTransId="{AD672F00-C13C-4337-89F1-68EDA5705E36}"/>
    <dgm:cxn modelId="{2BE1AAD1-E2A4-4FB4-B3E0-0EFDD7E45A00}" type="presOf" srcId="{EF4198FB-824E-43E5-97BD-943B882133B5}" destId="{A7169FA9-7316-4941-8AC9-D7EA571370E0}" srcOrd="0" destOrd="0" presId="urn:microsoft.com/office/officeart/2005/8/layout/lProcess3"/>
    <dgm:cxn modelId="{E5B813F9-8CD5-470F-A71C-1D73D50CD40E}" type="presOf" srcId="{0AA81897-F90F-435B-ADB6-FDE1E6A0741E}" destId="{8CCE315F-C586-4C95-AFF8-A32E2ABBE891}" srcOrd="0" destOrd="0" presId="urn:microsoft.com/office/officeart/2005/8/layout/lProcess3"/>
    <dgm:cxn modelId="{C03447EC-598C-475C-B91F-EAE514E8EBEF}" type="presParOf" srcId="{8CCE315F-C586-4C95-AFF8-A32E2ABBE891}" destId="{2CFA1035-74B0-4D6B-950C-46B8D2887A2D}" srcOrd="0" destOrd="0" presId="urn:microsoft.com/office/officeart/2005/8/layout/lProcess3"/>
    <dgm:cxn modelId="{DA8F3779-E4DF-4084-BF47-7F47AB9F02A1}" type="presParOf" srcId="{2CFA1035-74B0-4D6B-950C-46B8D2887A2D}" destId="{A7169FA9-7316-4941-8AC9-D7EA571370E0}" srcOrd="0"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5419EF-0F3A-494B-8F73-BC733247499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610346E-1913-4D32-A9D4-8949B24D42CE}">
      <dgm:prSet/>
      <dgm:spPr/>
      <dgm:t>
        <a:bodyPr/>
        <a:lstStyle/>
        <a:p>
          <a:r>
            <a:rPr lang="en-US" b="0" i="0"/>
            <a:t>Seattle, which is in King County, has the highest number of EV registrations by a significant margin, far outpacing the other cities listed.</a:t>
          </a:r>
          <a:endParaRPr lang="en-US"/>
        </a:p>
      </dgm:t>
    </dgm:pt>
    <dgm:pt modelId="{0A2BC896-AC02-41D1-BCA3-FC253C5F0A09}" type="parTrans" cxnId="{A4A0522D-7DB7-4515-9531-A89032E7A0E6}">
      <dgm:prSet/>
      <dgm:spPr/>
      <dgm:t>
        <a:bodyPr/>
        <a:lstStyle/>
        <a:p>
          <a:endParaRPr lang="en-US"/>
        </a:p>
      </dgm:t>
    </dgm:pt>
    <dgm:pt modelId="{D7EB7DA0-C9FC-4920-8FA3-C830766F21ED}" type="sibTrans" cxnId="{A4A0522D-7DB7-4515-9531-A89032E7A0E6}">
      <dgm:prSet/>
      <dgm:spPr/>
      <dgm:t>
        <a:bodyPr/>
        <a:lstStyle/>
        <a:p>
          <a:endParaRPr lang="en-US"/>
        </a:p>
      </dgm:t>
    </dgm:pt>
    <dgm:pt modelId="{3BB4DCCF-3C35-4D35-92C6-F330B84C7630}">
      <dgm:prSet/>
      <dgm:spPr/>
      <dgm:t>
        <a:bodyPr/>
        <a:lstStyle/>
        <a:p>
          <a:r>
            <a:rPr lang="en-US" b="0" i="0"/>
            <a:t>Bellevue and Redmond, also in King County, follow Seattle with the next highest registrations, though these are considerably less than Seattle’s.</a:t>
          </a:r>
          <a:endParaRPr lang="en-US"/>
        </a:p>
      </dgm:t>
    </dgm:pt>
    <dgm:pt modelId="{2B9AF882-EB8D-4F91-B0F1-6566B39D84F4}" type="parTrans" cxnId="{BA84E4F3-03C5-4D73-9CA5-2A3C4BE7DFA2}">
      <dgm:prSet/>
      <dgm:spPr/>
      <dgm:t>
        <a:bodyPr/>
        <a:lstStyle/>
        <a:p>
          <a:endParaRPr lang="en-US"/>
        </a:p>
      </dgm:t>
    </dgm:pt>
    <dgm:pt modelId="{449EE4B2-E81F-486A-9134-39ACCE685F7C}" type="sibTrans" cxnId="{BA84E4F3-03C5-4D73-9CA5-2A3C4BE7DFA2}">
      <dgm:prSet/>
      <dgm:spPr/>
      <dgm:t>
        <a:bodyPr/>
        <a:lstStyle/>
        <a:p>
          <a:endParaRPr lang="en-US"/>
        </a:p>
      </dgm:t>
    </dgm:pt>
    <dgm:pt modelId="{79859BCE-FE1A-4A2E-874F-C93434DEE6E6}">
      <dgm:prSet/>
      <dgm:spPr/>
      <dgm:t>
        <a:bodyPr/>
        <a:lstStyle/>
        <a:p>
          <a:r>
            <a:rPr lang="en-US" b="0" i="0" dirty="0"/>
            <a:t>Cities in Snohomish County, such as Kirkland and Sammamish, show moderate EV registrations.</a:t>
          </a:r>
          <a:endParaRPr lang="en-US" dirty="0"/>
        </a:p>
      </dgm:t>
    </dgm:pt>
    <dgm:pt modelId="{94BAE846-81D6-423D-9040-173FED679F69}" type="parTrans" cxnId="{AE32CD54-6CA5-4AA4-BA0F-2B740A373728}">
      <dgm:prSet/>
      <dgm:spPr/>
      <dgm:t>
        <a:bodyPr/>
        <a:lstStyle/>
        <a:p>
          <a:endParaRPr lang="en-US"/>
        </a:p>
      </dgm:t>
    </dgm:pt>
    <dgm:pt modelId="{8E4CD72C-6D12-4182-8443-74FC5A33ED55}" type="sibTrans" cxnId="{AE32CD54-6CA5-4AA4-BA0F-2B740A373728}">
      <dgm:prSet/>
      <dgm:spPr/>
      <dgm:t>
        <a:bodyPr/>
        <a:lstStyle/>
        <a:p>
          <a:endParaRPr lang="en-US"/>
        </a:p>
      </dgm:t>
    </dgm:pt>
    <dgm:pt modelId="{21DA4584-25E5-42E3-BC7D-7683008BBF91}">
      <dgm:prSet/>
      <dgm:spPr/>
      <dgm:t>
        <a:bodyPr/>
        <a:lstStyle/>
        <a:p>
          <a:r>
            <a:rPr lang="en-US" b="0" i="0"/>
            <a:t>Tacoma and Tukwila, representing Pierce County, have the fewest EV registrations among the cities listed, with Tacoma slightly ahead of Tukwila.</a:t>
          </a:r>
          <a:endParaRPr lang="en-US"/>
        </a:p>
      </dgm:t>
    </dgm:pt>
    <dgm:pt modelId="{F1B3827A-C531-4D34-9E09-292141D42FFF}" type="parTrans" cxnId="{623C66BC-76EE-4DF4-B72D-477406823B65}">
      <dgm:prSet/>
      <dgm:spPr/>
      <dgm:t>
        <a:bodyPr/>
        <a:lstStyle/>
        <a:p>
          <a:endParaRPr lang="en-US"/>
        </a:p>
      </dgm:t>
    </dgm:pt>
    <dgm:pt modelId="{FCE4F1D3-1899-4ADF-9794-1B6C242BF3EF}" type="sibTrans" cxnId="{623C66BC-76EE-4DF4-B72D-477406823B65}">
      <dgm:prSet/>
      <dgm:spPr/>
      <dgm:t>
        <a:bodyPr/>
        <a:lstStyle/>
        <a:p>
          <a:endParaRPr lang="en-US"/>
        </a:p>
      </dgm:t>
    </dgm:pt>
    <dgm:pt modelId="{4C267705-340F-48CF-B7F7-46D8022A2BD2}">
      <dgm:prSet/>
      <dgm:spPr/>
      <dgm:t>
        <a:bodyPr/>
        <a:lstStyle/>
        <a:p>
          <a:r>
            <a:rPr lang="en-US" b="0" i="0"/>
            <a:t>The majority of cities shown are from King County, which seems to dominate EV registrations among the three counties.</a:t>
          </a:r>
          <a:endParaRPr lang="en-US"/>
        </a:p>
      </dgm:t>
    </dgm:pt>
    <dgm:pt modelId="{F7D4D704-8579-46FE-9F14-31226E0E6A3C}" type="parTrans" cxnId="{0ACC98E9-C66A-4366-97F5-CBA0B30C9929}">
      <dgm:prSet/>
      <dgm:spPr/>
      <dgm:t>
        <a:bodyPr/>
        <a:lstStyle/>
        <a:p>
          <a:endParaRPr lang="en-US"/>
        </a:p>
      </dgm:t>
    </dgm:pt>
    <dgm:pt modelId="{9FC11267-D5F5-455D-9340-90B3C8457B23}" type="sibTrans" cxnId="{0ACC98E9-C66A-4366-97F5-CBA0B30C9929}">
      <dgm:prSet/>
      <dgm:spPr/>
      <dgm:t>
        <a:bodyPr/>
        <a:lstStyle/>
        <a:p>
          <a:endParaRPr lang="en-US"/>
        </a:p>
      </dgm:t>
    </dgm:pt>
    <dgm:pt modelId="{1BDB19BE-1557-4BB8-B89A-3D4AF306E052}">
      <dgm:prSet/>
      <dgm:spPr/>
      <dgm:t>
        <a:bodyPr/>
        <a:lstStyle/>
        <a:p>
          <a:r>
            <a:rPr lang="en-US" b="0" i="0" dirty="0"/>
            <a:t>Overall, the graph indicates that EV adoption is not uniform across the cities and is more concentrated in certain areas, particularly in King County.</a:t>
          </a:r>
          <a:endParaRPr lang="en-US" dirty="0"/>
        </a:p>
      </dgm:t>
    </dgm:pt>
    <dgm:pt modelId="{094F9971-0885-4AB4-A47F-F8BA33D6DA45}" type="parTrans" cxnId="{F6E92382-7BD7-4DF0-A22D-94B510DAEA65}">
      <dgm:prSet/>
      <dgm:spPr/>
      <dgm:t>
        <a:bodyPr/>
        <a:lstStyle/>
        <a:p>
          <a:endParaRPr lang="en-US"/>
        </a:p>
      </dgm:t>
    </dgm:pt>
    <dgm:pt modelId="{B7616939-408F-4E22-BA4A-ADD4F8F8077F}" type="sibTrans" cxnId="{F6E92382-7BD7-4DF0-A22D-94B510DAEA65}">
      <dgm:prSet/>
      <dgm:spPr/>
      <dgm:t>
        <a:bodyPr/>
        <a:lstStyle/>
        <a:p>
          <a:endParaRPr lang="en-US"/>
        </a:p>
      </dgm:t>
    </dgm:pt>
    <dgm:pt modelId="{0BCAA9EF-7E94-4FD1-BBB5-1EC5C8AED919}" type="pres">
      <dgm:prSet presAssocID="{B85419EF-0F3A-494B-8F73-BC7332474995}" presName="linear" presStyleCnt="0">
        <dgm:presLayoutVars>
          <dgm:animLvl val="lvl"/>
          <dgm:resizeHandles val="exact"/>
        </dgm:presLayoutVars>
      </dgm:prSet>
      <dgm:spPr/>
    </dgm:pt>
    <dgm:pt modelId="{54089403-E79F-4FC0-B6C6-C7DE2E61F2AA}" type="pres">
      <dgm:prSet presAssocID="{9610346E-1913-4D32-A9D4-8949B24D42CE}" presName="parentText" presStyleLbl="node1" presStyleIdx="0" presStyleCnt="6">
        <dgm:presLayoutVars>
          <dgm:chMax val="0"/>
          <dgm:bulletEnabled val="1"/>
        </dgm:presLayoutVars>
      </dgm:prSet>
      <dgm:spPr/>
    </dgm:pt>
    <dgm:pt modelId="{3A943DC2-331F-4582-B3C0-B191E6091BC2}" type="pres">
      <dgm:prSet presAssocID="{D7EB7DA0-C9FC-4920-8FA3-C830766F21ED}" presName="spacer" presStyleCnt="0"/>
      <dgm:spPr/>
    </dgm:pt>
    <dgm:pt modelId="{7A659BCE-0579-44EA-BD44-C3C78F88DA1F}" type="pres">
      <dgm:prSet presAssocID="{3BB4DCCF-3C35-4D35-92C6-F330B84C7630}" presName="parentText" presStyleLbl="node1" presStyleIdx="1" presStyleCnt="6">
        <dgm:presLayoutVars>
          <dgm:chMax val="0"/>
          <dgm:bulletEnabled val="1"/>
        </dgm:presLayoutVars>
      </dgm:prSet>
      <dgm:spPr/>
    </dgm:pt>
    <dgm:pt modelId="{28441D7D-DEE9-46D1-A41E-038DA9B03F96}" type="pres">
      <dgm:prSet presAssocID="{449EE4B2-E81F-486A-9134-39ACCE685F7C}" presName="spacer" presStyleCnt="0"/>
      <dgm:spPr/>
    </dgm:pt>
    <dgm:pt modelId="{042E0CAE-D93E-477B-AA7B-2AC0C49FCC64}" type="pres">
      <dgm:prSet presAssocID="{79859BCE-FE1A-4A2E-874F-C93434DEE6E6}" presName="parentText" presStyleLbl="node1" presStyleIdx="2" presStyleCnt="6">
        <dgm:presLayoutVars>
          <dgm:chMax val="0"/>
          <dgm:bulletEnabled val="1"/>
        </dgm:presLayoutVars>
      </dgm:prSet>
      <dgm:spPr/>
    </dgm:pt>
    <dgm:pt modelId="{7BA646C8-99BA-4D59-A57F-E5E5B38F2007}" type="pres">
      <dgm:prSet presAssocID="{8E4CD72C-6D12-4182-8443-74FC5A33ED55}" presName="spacer" presStyleCnt="0"/>
      <dgm:spPr/>
    </dgm:pt>
    <dgm:pt modelId="{35759050-CC83-4088-ACA6-0DF1439E0B23}" type="pres">
      <dgm:prSet presAssocID="{21DA4584-25E5-42E3-BC7D-7683008BBF91}" presName="parentText" presStyleLbl="node1" presStyleIdx="3" presStyleCnt="6">
        <dgm:presLayoutVars>
          <dgm:chMax val="0"/>
          <dgm:bulletEnabled val="1"/>
        </dgm:presLayoutVars>
      </dgm:prSet>
      <dgm:spPr/>
    </dgm:pt>
    <dgm:pt modelId="{DB069164-949C-4C5E-B706-70F2DF0A70C5}" type="pres">
      <dgm:prSet presAssocID="{FCE4F1D3-1899-4ADF-9794-1B6C242BF3EF}" presName="spacer" presStyleCnt="0"/>
      <dgm:spPr/>
    </dgm:pt>
    <dgm:pt modelId="{D756A39A-09A3-46DD-8E47-EB4D73B43CE0}" type="pres">
      <dgm:prSet presAssocID="{4C267705-340F-48CF-B7F7-46D8022A2BD2}" presName="parentText" presStyleLbl="node1" presStyleIdx="4" presStyleCnt="6">
        <dgm:presLayoutVars>
          <dgm:chMax val="0"/>
          <dgm:bulletEnabled val="1"/>
        </dgm:presLayoutVars>
      </dgm:prSet>
      <dgm:spPr/>
    </dgm:pt>
    <dgm:pt modelId="{41A8A3CD-ECE9-4791-868F-B8A674D1E36D}" type="pres">
      <dgm:prSet presAssocID="{9FC11267-D5F5-455D-9340-90B3C8457B23}" presName="spacer" presStyleCnt="0"/>
      <dgm:spPr/>
    </dgm:pt>
    <dgm:pt modelId="{D6524B4C-CB4F-4454-BC37-70BAD39D605F}" type="pres">
      <dgm:prSet presAssocID="{1BDB19BE-1557-4BB8-B89A-3D4AF306E052}" presName="parentText" presStyleLbl="node1" presStyleIdx="5" presStyleCnt="6">
        <dgm:presLayoutVars>
          <dgm:chMax val="0"/>
          <dgm:bulletEnabled val="1"/>
        </dgm:presLayoutVars>
      </dgm:prSet>
      <dgm:spPr/>
    </dgm:pt>
  </dgm:ptLst>
  <dgm:cxnLst>
    <dgm:cxn modelId="{CF9EA010-77DB-4711-94BD-E96C84B15B41}" type="presOf" srcId="{79859BCE-FE1A-4A2E-874F-C93434DEE6E6}" destId="{042E0CAE-D93E-477B-AA7B-2AC0C49FCC64}" srcOrd="0" destOrd="0" presId="urn:microsoft.com/office/officeart/2005/8/layout/vList2"/>
    <dgm:cxn modelId="{F66F5229-3EDE-43CA-8690-7E64C147763F}" type="presOf" srcId="{21DA4584-25E5-42E3-BC7D-7683008BBF91}" destId="{35759050-CC83-4088-ACA6-0DF1439E0B23}" srcOrd="0" destOrd="0" presId="urn:microsoft.com/office/officeart/2005/8/layout/vList2"/>
    <dgm:cxn modelId="{A4A0522D-7DB7-4515-9531-A89032E7A0E6}" srcId="{B85419EF-0F3A-494B-8F73-BC7332474995}" destId="{9610346E-1913-4D32-A9D4-8949B24D42CE}" srcOrd="0" destOrd="0" parTransId="{0A2BC896-AC02-41D1-BCA3-FC253C5F0A09}" sibTransId="{D7EB7DA0-C9FC-4920-8FA3-C830766F21ED}"/>
    <dgm:cxn modelId="{AE32CD54-6CA5-4AA4-BA0F-2B740A373728}" srcId="{B85419EF-0F3A-494B-8F73-BC7332474995}" destId="{79859BCE-FE1A-4A2E-874F-C93434DEE6E6}" srcOrd="2" destOrd="0" parTransId="{94BAE846-81D6-423D-9040-173FED679F69}" sibTransId="{8E4CD72C-6D12-4182-8443-74FC5A33ED55}"/>
    <dgm:cxn modelId="{F6E92382-7BD7-4DF0-A22D-94B510DAEA65}" srcId="{B85419EF-0F3A-494B-8F73-BC7332474995}" destId="{1BDB19BE-1557-4BB8-B89A-3D4AF306E052}" srcOrd="5" destOrd="0" parTransId="{094F9971-0885-4AB4-A47F-F8BA33D6DA45}" sibTransId="{B7616939-408F-4E22-BA4A-ADD4F8F8077F}"/>
    <dgm:cxn modelId="{8BADF798-F491-4C17-AFF4-7364C4175F94}" type="presOf" srcId="{4C267705-340F-48CF-B7F7-46D8022A2BD2}" destId="{D756A39A-09A3-46DD-8E47-EB4D73B43CE0}" srcOrd="0" destOrd="0" presId="urn:microsoft.com/office/officeart/2005/8/layout/vList2"/>
    <dgm:cxn modelId="{623C66BC-76EE-4DF4-B72D-477406823B65}" srcId="{B85419EF-0F3A-494B-8F73-BC7332474995}" destId="{21DA4584-25E5-42E3-BC7D-7683008BBF91}" srcOrd="3" destOrd="0" parTransId="{F1B3827A-C531-4D34-9E09-292141D42FFF}" sibTransId="{FCE4F1D3-1899-4ADF-9794-1B6C242BF3EF}"/>
    <dgm:cxn modelId="{03E73AC8-A9BE-4E84-9668-C40BA9801D24}" type="presOf" srcId="{3BB4DCCF-3C35-4D35-92C6-F330B84C7630}" destId="{7A659BCE-0579-44EA-BD44-C3C78F88DA1F}" srcOrd="0" destOrd="0" presId="urn:microsoft.com/office/officeart/2005/8/layout/vList2"/>
    <dgm:cxn modelId="{214199D3-CEF3-49B1-B7D1-7F2E79D49B12}" type="presOf" srcId="{1BDB19BE-1557-4BB8-B89A-3D4AF306E052}" destId="{D6524B4C-CB4F-4454-BC37-70BAD39D605F}" srcOrd="0" destOrd="0" presId="urn:microsoft.com/office/officeart/2005/8/layout/vList2"/>
    <dgm:cxn modelId="{1738FFE1-3E59-41AD-B40F-9E2815A33E33}" type="presOf" srcId="{9610346E-1913-4D32-A9D4-8949B24D42CE}" destId="{54089403-E79F-4FC0-B6C6-C7DE2E61F2AA}" srcOrd="0" destOrd="0" presId="urn:microsoft.com/office/officeart/2005/8/layout/vList2"/>
    <dgm:cxn modelId="{0ACC98E9-C66A-4366-97F5-CBA0B30C9929}" srcId="{B85419EF-0F3A-494B-8F73-BC7332474995}" destId="{4C267705-340F-48CF-B7F7-46D8022A2BD2}" srcOrd="4" destOrd="0" parTransId="{F7D4D704-8579-46FE-9F14-31226E0E6A3C}" sibTransId="{9FC11267-D5F5-455D-9340-90B3C8457B23}"/>
    <dgm:cxn modelId="{BA84E4F3-03C5-4D73-9CA5-2A3C4BE7DFA2}" srcId="{B85419EF-0F3A-494B-8F73-BC7332474995}" destId="{3BB4DCCF-3C35-4D35-92C6-F330B84C7630}" srcOrd="1" destOrd="0" parTransId="{2B9AF882-EB8D-4F91-B0F1-6566B39D84F4}" sibTransId="{449EE4B2-E81F-486A-9134-39ACCE685F7C}"/>
    <dgm:cxn modelId="{838F3BF5-3D47-4E30-8B70-C276D069892C}" type="presOf" srcId="{B85419EF-0F3A-494B-8F73-BC7332474995}" destId="{0BCAA9EF-7E94-4FD1-BBB5-1EC5C8AED919}" srcOrd="0" destOrd="0" presId="urn:microsoft.com/office/officeart/2005/8/layout/vList2"/>
    <dgm:cxn modelId="{64A0924F-969A-47BA-8B56-3ACB3A8207C6}" type="presParOf" srcId="{0BCAA9EF-7E94-4FD1-BBB5-1EC5C8AED919}" destId="{54089403-E79F-4FC0-B6C6-C7DE2E61F2AA}" srcOrd="0" destOrd="0" presId="urn:microsoft.com/office/officeart/2005/8/layout/vList2"/>
    <dgm:cxn modelId="{B5470157-4151-4EA8-9EB6-137A0FC15D2A}" type="presParOf" srcId="{0BCAA9EF-7E94-4FD1-BBB5-1EC5C8AED919}" destId="{3A943DC2-331F-4582-B3C0-B191E6091BC2}" srcOrd="1" destOrd="0" presId="urn:microsoft.com/office/officeart/2005/8/layout/vList2"/>
    <dgm:cxn modelId="{F17F6EA5-DD11-438F-915C-47BBDC4DE5C9}" type="presParOf" srcId="{0BCAA9EF-7E94-4FD1-BBB5-1EC5C8AED919}" destId="{7A659BCE-0579-44EA-BD44-C3C78F88DA1F}" srcOrd="2" destOrd="0" presId="urn:microsoft.com/office/officeart/2005/8/layout/vList2"/>
    <dgm:cxn modelId="{7F326E1D-58D9-49AC-B78D-75B5AFDE5522}" type="presParOf" srcId="{0BCAA9EF-7E94-4FD1-BBB5-1EC5C8AED919}" destId="{28441D7D-DEE9-46D1-A41E-038DA9B03F96}" srcOrd="3" destOrd="0" presId="urn:microsoft.com/office/officeart/2005/8/layout/vList2"/>
    <dgm:cxn modelId="{32341A0B-9484-4664-80BD-4C9DCCAED810}" type="presParOf" srcId="{0BCAA9EF-7E94-4FD1-BBB5-1EC5C8AED919}" destId="{042E0CAE-D93E-477B-AA7B-2AC0C49FCC64}" srcOrd="4" destOrd="0" presId="urn:microsoft.com/office/officeart/2005/8/layout/vList2"/>
    <dgm:cxn modelId="{4AFB5C0D-CD61-4263-8BDD-E4F5833DFF9E}" type="presParOf" srcId="{0BCAA9EF-7E94-4FD1-BBB5-1EC5C8AED919}" destId="{7BA646C8-99BA-4D59-A57F-E5E5B38F2007}" srcOrd="5" destOrd="0" presId="urn:microsoft.com/office/officeart/2005/8/layout/vList2"/>
    <dgm:cxn modelId="{ACD7D606-789F-4E5C-863B-3900534305B5}" type="presParOf" srcId="{0BCAA9EF-7E94-4FD1-BBB5-1EC5C8AED919}" destId="{35759050-CC83-4088-ACA6-0DF1439E0B23}" srcOrd="6" destOrd="0" presId="urn:microsoft.com/office/officeart/2005/8/layout/vList2"/>
    <dgm:cxn modelId="{A972DF2F-C263-4973-B0C8-9818903E2487}" type="presParOf" srcId="{0BCAA9EF-7E94-4FD1-BBB5-1EC5C8AED919}" destId="{DB069164-949C-4C5E-B706-70F2DF0A70C5}" srcOrd="7" destOrd="0" presId="urn:microsoft.com/office/officeart/2005/8/layout/vList2"/>
    <dgm:cxn modelId="{DFEC46F9-D05A-4FAD-B9EB-B5FED18FA5BE}" type="presParOf" srcId="{0BCAA9EF-7E94-4FD1-BBB5-1EC5C8AED919}" destId="{D756A39A-09A3-46DD-8E47-EB4D73B43CE0}" srcOrd="8" destOrd="0" presId="urn:microsoft.com/office/officeart/2005/8/layout/vList2"/>
    <dgm:cxn modelId="{474DA494-8C8B-46C1-9696-B8DC1CA45EA7}" type="presParOf" srcId="{0BCAA9EF-7E94-4FD1-BBB5-1EC5C8AED919}" destId="{41A8A3CD-ECE9-4791-868F-B8A674D1E36D}" srcOrd="9" destOrd="0" presId="urn:microsoft.com/office/officeart/2005/8/layout/vList2"/>
    <dgm:cxn modelId="{21A3BFF7-074E-4E23-B9D2-63FE099AA285}" type="presParOf" srcId="{0BCAA9EF-7E94-4FD1-BBB5-1EC5C8AED919}" destId="{D6524B4C-CB4F-4454-BC37-70BAD39D605F}"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049F2C-58D9-4C2C-80CD-AC9A556C2DA3}">
      <dsp:nvSpPr>
        <dsp:cNvPr id="0" name=""/>
        <dsp:cNvSpPr/>
      </dsp:nvSpPr>
      <dsp:spPr>
        <a:xfrm>
          <a:off x="3964366" y="1766"/>
          <a:ext cx="4459911" cy="102828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0" kern="1200"/>
            <a:t>Market size analysis for electric vehicles involves a multi-step process that includes defining the market scope, collecting and preparing data, analytical modelling, and communicating findings through </a:t>
          </a:r>
          <a:r>
            <a:rPr lang="en-US" sz="1200" b="1" i="0" u="sng" kern="1200">
              <a:hlinkClick xmlns:r="http://schemas.openxmlformats.org/officeDocument/2006/relationships" r:id="rId1"/>
            </a:rPr>
            <a:t>visualization</a:t>
          </a:r>
          <a:r>
            <a:rPr lang="en-US" sz="1200" b="0" i="0" kern="1200"/>
            <a:t> and reporting. Below is the process you can follow for the task of electric vehicles market size analysis:</a:t>
          </a:r>
          <a:endParaRPr lang="en-US" sz="1200" kern="1200"/>
        </a:p>
      </dsp:txBody>
      <dsp:txXfrm>
        <a:off x="4014563" y="51963"/>
        <a:ext cx="4359517" cy="927888"/>
      </dsp:txXfrm>
    </dsp:sp>
    <dsp:sp modelId="{E81F9FAA-062B-4472-97C0-3B068C898717}">
      <dsp:nvSpPr>
        <dsp:cNvPr id="0" name=""/>
        <dsp:cNvSpPr/>
      </dsp:nvSpPr>
      <dsp:spPr>
        <a:xfrm>
          <a:off x="3964366" y="1081462"/>
          <a:ext cx="4459911" cy="102828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0" kern="1200" dirty="0"/>
            <a:t>Define whether the analysis is global, regional, or focused on specific countries.</a:t>
          </a:r>
          <a:endParaRPr lang="en-US" sz="1200" kern="1200" dirty="0"/>
        </a:p>
      </dsp:txBody>
      <dsp:txXfrm>
        <a:off x="4014563" y="1131659"/>
        <a:ext cx="4359517" cy="927888"/>
      </dsp:txXfrm>
    </dsp:sp>
    <dsp:sp modelId="{3BA4DB3A-896A-4923-8135-4C192F4F7ED9}">
      <dsp:nvSpPr>
        <dsp:cNvPr id="0" name=""/>
        <dsp:cNvSpPr/>
      </dsp:nvSpPr>
      <dsp:spPr>
        <a:xfrm>
          <a:off x="3964366" y="2161159"/>
          <a:ext cx="4459911" cy="102828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0" kern="1200"/>
            <a:t>Gather information from industry associations, market research firms (e.g., BloombergNEF, IEA), and government publications relevant to the EV market.</a:t>
          </a:r>
          <a:endParaRPr lang="en-US" sz="1200" kern="1200"/>
        </a:p>
      </dsp:txBody>
      <dsp:txXfrm>
        <a:off x="4014563" y="2211356"/>
        <a:ext cx="4359517" cy="927888"/>
      </dsp:txXfrm>
    </dsp:sp>
    <dsp:sp modelId="{3800F3EE-FEB1-41F2-ACE3-D6E2DF50D97D}">
      <dsp:nvSpPr>
        <dsp:cNvPr id="0" name=""/>
        <dsp:cNvSpPr/>
      </dsp:nvSpPr>
      <dsp:spPr>
        <a:xfrm>
          <a:off x="3964366" y="3240855"/>
          <a:ext cx="4459911" cy="102828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0" kern="1200"/>
            <a:t>Use historical data to identify trends in EV sales, production, and market.</a:t>
          </a:r>
          <a:endParaRPr lang="en-US" sz="1200" kern="1200"/>
        </a:p>
      </dsp:txBody>
      <dsp:txXfrm>
        <a:off x="4014563" y="3291052"/>
        <a:ext cx="4359517" cy="927888"/>
      </dsp:txXfrm>
    </dsp:sp>
    <dsp:sp modelId="{CA0F89C6-FFCC-4327-A9A1-90E9F4A6F317}">
      <dsp:nvSpPr>
        <dsp:cNvPr id="0" name=""/>
        <dsp:cNvSpPr/>
      </dsp:nvSpPr>
      <dsp:spPr>
        <a:xfrm>
          <a:off x="3964366" y="4320552"/>
          <a:ext cx="4459911" cy="102828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0" kern="1200"/>
            <a:t>Analyze the market size and growth rates for different EV segments.</a:t>
          </a:r>
          <a:endParaRPr lang="en-US" sz="1200" kern="1200"/>
        </a:p>
      </dsp:txBody>
      <dsp:txXfrm>
        <a:off x="4014563" y="4370749"/>
        <a:ext cx="4359517" cy="927888"/>
      </dsp:txXfrm>
    </dsp:sp>
    <dsp:sp modelId="{EC314D22-E9A0-4D67-B33C-90A74DE80B92}">
      <dsp:nvSpPr>
        <dsp:cNvPr id="0" name=""/>
        <dsp:cNvSpPr/>
      </dsp:nvSpPr>
      <dsp:spPr>
        <a:xfrm>
          <a:off x="3964366" y="5400248"/>
          <a:ext cx="4459911" cy="102828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0" kern="1200"/>
            <a:t>Based on the market size analysis, provide strategic recommendations for businesses looking to enter or expand in the EV market.</a:t>
          </a:r>
          <a:endParaRPr lang="en-US" sz="1200" kern="1200"/>
        </a:p>
      </dsp:txBody>
      <dsp:txXfrm>
        <a:off x="4014563" y="5450445"/>
        <a:ext cx="4359517" cy="9278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69FA9-7316-4941-8AC9-D7EA571370E0}">
      <dsp:nvSpPr>
        <dsp:cNvPr id="0" name=""/>
        <dsp:cNvSpPr/>
      </dsp:nvSpPr>
      <dsp:spPr>
        <a:xfrm>
          <a:off x="1117075" y="1283"/>
          <a:ext cx="5936456" cy="237458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9525" rIns="0" bIns="9525" numCol="1" spcCol="1270" anchor="ctr" anchorCtr="0">
          <a:noAutofit/>
        </a:bodyPr>
        <a:lstStyle/>
        <a:p>
          <a:pPr marL="0" lvl="0" indent="0" algn="ctr" defTabSz="666750">
            <a:lnSpc>
              <a:spcPct val="90000"/>
            </a:lnSpc>
            <a:spcBef>
              <a:spcPct val="0"/>
            </a:spcBef>
            <a:spcAft>
              <a:spcPct val="35000"/>
            </a:spcAft>
            <a:buNone/>
          </a:pPr>
          <a:r>
            <a:rPr lang="en-US" sz="1500" b="0" i="0" kern="1200"/>
            <a:t>From the above bar chart, it’s clear that EV adoption has been increasing over time, especially noting a significant upward trend starting around 2016. The number of vehicles registered grows modestly up until that point and then begins to rise more rapidly from 2017 onwards. The year 2023 shows a particularly sharp increase in the number of registered EVs, with the bar for 2023 being the highest on the graph, indicating a peak in EV adoption.</a:t>
          </a:r>
          <a:endParaRPr lang="en-US" sz="1500" kern="1200"/>
        </a:p>
      </dsp:txBody>
      <dsp:txXfrm>
        <a:off x="2304366" y="1283"/>
        <a:ext cx="3561874" cy="23745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089403-E79F-4FC0-B6C6-C7DE2E61F2AA}">
      <dsp:nvSpPr>
        <dsp:cNvPr id="0" name=""/>
        <dsp:cNvSpPr/>
      </dsp:nvSpPr>
      <dsp:spPr>
        <a:xfrm>
          <a:off x="0" y="135610"/>
          <a:ext cx="1080565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Seattle, which is in King County, has the highest number of EV registrations by a significant margin, far outpacing the other cities listed.</a:t>
          </a:r>
          <a:endParaRPr lang="en-US" sz="1400" kern="1200"/>
        </a:p>
      </dsp:txBody>
      <dsp:txXfrm>
        <a:off x="16392" y="152002"/>
        <a:ext cx="10772867" cy="303006"/>
      </dsp:txXfrm>
    </dsp:sp>
    <dsp:sp modelId="{7A659BCE-0579-44EA-BD44-C3C78F88DA1F}">
      <dsp:nvSpPr>
        <dsp:cNvPr id="0" name=""/>
        <dsp:cNvSpPr/>
      </dsp:nvSpPr>
      <dsp:spPr>
        <a:xfrm>
          <a:off x="0" y="511720"/>
          <a:ext cx="1080565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Bellevue and Redmond, also in King County, follow Seattle with the next highest registrations, though these are considerably less than Seattle’s.</a:t>
          </a:r>
          <a:endParaRPr lang="en-US" sz="1400" kern="1200"/>
        </a:p>
      </dsp:txBody>
      <dsp:txXfrm>
        <a:off x="16392" y="528112"/>
        <a:ext cx="10772867" cy="303006"/>
      </dsp:txXfrm>
    </dsp:sp>
    <dsp:sp modelId="{042E0CAE-D93E-477B-AA7B-2AC0C49FCC64}">
      <dsp:nvSpPr>
        <dsp:cNvPr id="0" name=""/>
        <dsp:cNvSpPr/>
      </dsp:nvSpPr>
      <dsp:spPr>
        <a:xfrm>
          <a:off x="0" y="887830"/>
          <a:ext cx="1080565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dirty="0"/>
            <a:t>Cities in Snohomish County, such as Kirkland and Sammamish, show moderate EV registrations.</a:t>
          </a:r>
          <a:endParaRPr lang="en-US" sz="1400" kern="1200" dirty="0"/>
        </a:p>
      </dsp:txBody>
      <dsp:txXfrm>
        <a:off x="16392" y="904222"/>
        <a:ext cx="10772867" cy="303006"/>
      </dsp:txXfrm>
    </dsp:sp>
    <dsp:sp modelId="{35759050-CC83-4088-ACA6-0DF1439E0B23}">
      <dsp:nvSpPr>
        <dsp:cNvPr id="0" name=""/>
        <dsp:cNvSpPr/>
      </dsp:nvSpPr>
      <dsp:spPr>
        <a:xfrm>
          <a:off x="0" y="1263940"/>
          <a:ext cx="1080565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Tacoma and Tukwila, representing Pierce County, have the fewest EV registrations among the cities listed, with Tacoma slightly ahead of Tukwila.</a:t>
          </a:r>
          <a:endParaRPr lang="en-US" sz="1400" kern="1200"/>
        </a:p>
      </dsp:txBody>
      <dsp:txXfrm>
        <a:off x="16392" y="1280332"/>
        <a:ext cx="10772867" cy="303006"/>
      </dsp:txXfrm>
    </dsp:sp>
    <dsp:sp modelId="{D756A39A-09A3-46DD-8E47-EB4D73B43CE0}">
      <dsp:nvSpPr>
        <dsp:cNvPr id="0" name=""/>
        <dsp:cNvSpPr/>
      </dsp:nvSpPr>
      <dsp:spPr>
        <a:xfrm>
          <a:off x="0" y="1640050"/>
          <a:ext cx="1080565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The majority of cities shown are from King County, which seems to dominate EV registrations among the three counties.</a:t>
          </a:r>
          <a:endParaRPr lang="en-US" sz="1400" kern="1200"/>
        </a:p>
      </dsp:txBody>
      <dsp:txXfrm>
        <a:off x="16392" y="1656442"/>
        <a:ext cx="10772867" cy="303006"/>
      </dsp:txXfrm>
    </dsp:sp>
    <dsp:sp modelId="{D6524B4C-CB4F-4454-BC37-70BAD39D605F}">
      <dsp:nvSpPr>
        <dsp:cNvPr id="0" name=""/>
        <dsp:cNvSpPr/>
      </dsp:nvSpPr>
      <dsp:spPr>
        <a:xfrm>
          <a:off x="0" y="2016160"/>
          <a:ext cx="1080565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dirty="0"/>
            <a:t>Overall, the graph indicates that EV adoption is not uniform across the cities and is more concentrated in certain areas, particularly in King County.</a:t>
          </a:r>
          <a:endParaRPr lang="en-US" sz="1400" kern="1200" dirty="0"/>
        </a:p>
      </dsp:txBody>
      <dsp:txXfrm>
        <a:off x="16392" y="2032552"/>
        <a:ext cx="10772867" cy="30300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5287-20C1-03D5-D6F9-30CF3E83F2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7667B1-9F75-64ED-20B3-0F35D9153E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E9E67D-645A-57DF-79C4-28E3D0DB36BD}"/>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5" name="Footer Placeholder 4">
            <a:extLst>
              <a:ext uri="{FF2B5EF4-FFF2-40B4-BE49-F238E27FC236}">
                <a16:creationId xmlns:a16="http://schemas.microsoft.com/office/drawing/2014/main" id="{54B0AB4D-2A6F-EA9F-00AC-13FF0979A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F25545-21CC-BF59-B8B8-4E7A05BB48C7}"/>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2613167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86F08-8464-360A-179C-EB5BEA5829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E648DC-EBFF-4213-0BE8-BFDEE14E54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9D9327-F8A5-066D-6502-21ACDB6AF048}"/>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5" name="Footer Placeholder 4">
            <a:extLst>
              <a:ext uri="{FF2B5EF4-FFF2-40B4-BE49-F238E27FC236}">
                <a16:creationId xmlns:a16="http://schemas.microsoft.com/office/drawing/2014/main" id="{3EFBCC47-B636-0594-4F6D-148658328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A487A-45D7-D3E1-6AA3-46CBD9D9B511}"/>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1944460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94469-1A5E-1358-4455-83BC1550DA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977741-59DE-A35F-3D68-FCE2A898A9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E72B06-E72F-9E29-D40F-F38AC641ACB3}"/>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5" name="Footer Placeholder 4">
            <a:extLst>
              <a:ext uri="{FF2B5EF4-FFF2-40B4-BE49-F238E27FC236}">
                <a16:creationId xmlns:a16="http://schemas.microsoft.com/office/drawing/2014/main" id="{3B2CDC6A-5C17-A2C4-21B3-E06804CA2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AD6184-E27D-202F-EE07-1A4504B6DFAB}"/>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1366091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BCAA2-5FB8-E1FA-BDE2-74AB78341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722337-7433-901D-DC1B-F8F5F4CCB7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00DDA0-58A2-38C7-D533-E0C36CE9EA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0CD4C8-AAAF-0F57-7D8B-ED63163FF958}"/>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6" name="Footer Placeholder 5">
            <a:extLst>
              <a:ext uri="{FF2B5EF4-FFF2-40B4-BE49-F238E27FC236}">
                <a16:creationId xmlns:a16="http://schemas.microsoft.com/office/drawing/2014/main" id="{C8553A7D-AC42-CC96-EED9-C8FDF84FE0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F6C22-D9FE-2D77-1B00-D00F0BF251C7}"/>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2111611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7B12E-6ABD-840D-0B5B-817A8DAFD9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A06B6F-7042-ED7D-0496-2CBE1F568F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8F56BC-DCC2-CE2F-5D12-2A4DB49373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3D9BEA-D105-E4E1-DF26-3443C07136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039A5A-A4BF-89F3-B03F-0F0BC8AC46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BDFFBF-646E-2F7A-CC08-17EB997398EF}"/>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8" name="Footer Placeholder 7">
            <a:extLst>
              <a:ext uri="{FF2B5EF4-FFF2-40B4-BE49-F238E27FC236}">
                <a16:creationId xmlns:a16="http://schemas.microsoft.com/office/drawing/2014/main" id="{AAE487B9-A94A-A267-6B4D-E5A33CBEF6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17BB6A-DD7A-537C-C644-130B08F23FDD}"/>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994909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E34EE-466B-0B98-EC6C-112679285B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893793-5E33-F445-EE50-39913E123C22}"/>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4" name="Footer Placeholder 3">
            <a:extLst>
              <a:ext uri="{FF2B5EF4-FFF2-40B4-BE49-F238E27FC236}">
                <a16:creationId xmlns:a16="http://schemas.microsoft.com/office/drawing/2014/main" id="{441049F1-194C-8AA3-0B18-666DFF474B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C27BCB-366D-3965-6511-C6BC8D72E3C7}"/>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2919153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EED8AF-5CBB-386F-C469-C6BE9D906EF8}"/>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3" name="Footer Placeholder 2">
            <a:extLst>
              <a:ext uri="{FF2B5EF4-FFF2-40B4-BE49-F238E27FC236}">
                <a16:creationId xmlns:a16="http://schemas.microsoft.com/office/drawing/2014/main" id="{A128E620-F4D0-5E1D-03E8-AC3BE20489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FCED8A-3009-8866-5600-6D710989E868}"/>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522856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40D00-520D-E767-7D2E-F1D6A79932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4DA785-0931-382A-9EAE-F4273E4EE4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70B413-32C3-F72A-038D-B00951A5A3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12A585-503C-A873-7063-5F8BD74DFF24}"/>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6" name="Footer Placeholder 5">
            <a:extLst>
              <a:ext uri="{FF2B5EF4-FFF2-40B4-BE49-F238E27FC236}">
                <a16:creationId xmlns:a16="http://schemas.microsoft.com/office/drawing/2014/main" id="{536E497D-940B-602B-57A4-EB625C3B14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CE8E5E-7802-8F9B-D79B-ED86901BFA93}"/>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2578673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680DD-CCF7-44F4-C6EC-A9FBF876F7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71BBD8-DAEB-2EC6-47E0-0282990D6F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BC8889-F932-BCB2-F141-EDA14606E6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E9F855-A32C-31CD-B098-A18A05F220C4}"/>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6" name="Footer Placeholder 5">
            <a:extLst>
              <a:ext uri="{FF2B5EF4-FFF2-40B4-BE49-F238E27FC236}">
                <a16:creationId xmlns:a16="http://schemas.microsoft.com/office/drawing/2014/main" id="{00475DBE-0458-4269-2F48-3173AF113C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75D71-614D-9407-DAEE-48E6C9FE9BF3}"/>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3612704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2E470-598A-AD94-9CBA-94DE5DB54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303FC9-55A1-C651-6E59-C71C5A00AC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69B107-258F-A3F7-D4D6-D5EF96A71BBD}"/>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5" name="Footer Placeholder 4">
            <a:extLst>
              <a:ext uri="{FF2B5EF4-FFF2-40B4-BE49-F238E27FC236}">
                <a16:creationId xmlns:a16="http://schemas.microsoft.com/office/drawing/2014/main" id="{39438808-1D4E-1BA6-F65C-55D3DF0367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E1E290-059E-3461-962F-AF4D8EE102E6}"/>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2350726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48B613-647E-7234-423A-AC4278EFE9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FCC162-33C9-7674-6B1A-D0C598B252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15DB1-7967-D3D7-3867-80091BD36FDD}"/>
              </a:ext>
            </a:extLst>
          </p:cNvPr>
          <p:cNvSpPr>
            <a:spLocks noGrp="1"/>
          </p:cNvSpPr>
          <p:nvPr>
            <p:ph type="dt" sz="half" idx="10"/>
          </p:nvPr>
        </p:nvSpPr>
        <p:spPr/>
        <p:txBody>
          <a:bodyPr/>
          <a:lstStyle/>
          <a:p>
            <a:fld id="{8ACB7485-8D7E-4D56-B7B5-D07D4C97461C}" type="datetimeFigureOut">
              <a:rPr lang="en-US" smtClean="0"/>
              <a:t>10/31/2025</a:t>
            </a:fld>
            <a:endParaRPr lang="en-US"/>
          </a:p>
        </p:txBody>
      </p:sp>
      <p:sp>
        <p:nvSpPr>
          <p:cNvPr id="5" name="Footer Placeholder 4">
            <a:extLst>
              <a:ext uri="{FF2B5EF4-FFF2-40B4-BE49-F238E27FC236}">
                <a16:creationId xmlns:a16="http://schemas.microsoft.com/office/drawing/2014/main" id="{6E938678-A634-E0D8-6D30-2E934393E1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CEFEF5-0D2C-02D0-543F-564F52E6CC85}"/>
              </a:ext>
            </a:extLst>
          </p:cNvPr>
          <p:cNvSpPr>
            <a:spLocks noGrp="1"/>
          </p:cNvSpPr>
          <p:nvPr>
            <p:ph type="sldNum" sz="quarter" idx="12"/>
          </p:nvPr>
        </p:nvSpPr>
        <p:spPr/>
        <p:txBody>
          <a:bodyPr/>
          <a:lstStyle/>
          <a:p>
            <a:fld id="{ADED4856-24D4-4AED-B47E-CC70614C34D0}" type="slidenum">
              <a:rPr lang="en-US" smtClean="0"/>
              <a:t>‹#›</a:t>
            </a:fld>
            <a:endParaRPr lang="en-US"/>
          </a:p>
        </p:txBody>
      </p:sp>
    </p:spTree>
    <p:extLst>
      <p:ext uri="{BB962C8B-B14F-4D97-AF65-F5344CB8AC3E}">
        <p14:creationId xmlns:p14="http://schemas.microsoft.com/office/powerpoint/2010/main" val="1628637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9C46E1-BB53-633E-8921-764B057F4A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A64D49-2D45-C20C-ABCC-5A5079043E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5D5626-74F1-4A1E-FDD2-3599D14D9B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CB7485-8D7E-4D56-B7B5-D07D4C97461C}" type="datetimeFigureOut">
              <a:rPr lang="en-US" smtClean="0"/>
              <a:t>10/31/2025</a:t>
            </a:fld>
            <a:endParaRPr lang="en-US"/>
          </a:p>
        </p:txBody>
      </p:sp>
      <p:sp>
        <p:nvSpPr>
          <p:cNvPr id="5" name="Footer Placeholder 4">
            <a:extLst>
              <a:ext uri="{FF2B5EF4-FFF2-40B4-BE49-F238E27FC236}">
                <a16:creationId xmlns:a16="http://schemas.microsoft.com/office/drawing/2014/main" id="{E39A56CF-00B0-EA3A-A921-F925BE536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163E4A-8D87-929E-8040-EAE4432CD0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ED4856-24D4-4AED-B47E-CC70614C34D0}" type="slidenum">
              <a:rPr lang="en-US" smtClean="0"/>
              <a:t>‹#›</a:t>
            </a:fld>
            <a:endParaRPr lang="en-US"/>
          </a:p>
        </p:txBody>
      </p:sp>
    </p:spTree>
    <p:extLst>
      <p:ext uri="{BB962C8B-B14F-4D97-AF65-F5344CB8AC3E}">
        <p14:creationId xmlns:p14="http://schemas.microsoft.com/office/powerpoint/2010/main" val="131598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A9FCB-2ACE-F238-03E8-BEDC202A4095}"/>
              </a:ext>
            </a:extLst>
          </p:cNvPr>
          <p:cNvSpPr>
            <a:spLocks noGrp="1"/>
          </p:cNvSpPr>
          <p:nvPr>
            <p:ph type="ctrTitle"/>
          </p:nvPr>
        </p:nvSpPr>
        <p:spPr>
          <a:xfrm>
            <a:off x="1524000" y="1122362"/>
            <a:ext cx="9654746" cy="4240469"/>
          </a:xfrm>
        </p:spPr>
        <p:txBody>
          <a:bodyPr>
            <a:normAutofit/>
          </a:bodyPr>
          <a:lstStyle/>
          <a:p>
            <a:br>
              <a:rPr lang="en-US" b="1" dirty="0"/>
            </a:br>
            <a:endParaRPr lang="en-US" dirty="0"/>
          </a:p>
        </p:txBody>
      </p:sp>
      <p:sp>
        <p:nvSpPr>
          <p:cNvPr id="3" name="Subtitle 2">
            <a:extLst>
              <a:ext uri="{FF2B5EF4-FFF2-40B4-BE49-F238E27FC236}">
                <a16:creationId xmlns:a16="http://schemas.microsoft.com/office/drawing/2014/main" id="{5B24BC4E-22DC-F21E-871E-D79C8C579564}"/>
              </a:ext>
            </a:extLst>
          </p:cNvPr>
          <p:cNvSpPr>
            <a:spLocks noGrp="1"/>
          </p:cNvSpPr>
          <p:nvPr>
            <p:ph type="subTitle" idx="1"/>
          </p:nvPr>
        </p:nvSpPr>
        <p:spPr>
          <a:xfrm>
            <a:off x="1524000" y="2300747"/>
            <a:ext cx="10127226" cy="3982065"/>
          </a:xfrm>
        </p:spPr>
        <p:txBody>
          <a:bodyPr>
            <a:noAutofit/>
          </a:bodyPr>
          <a:lstStyle/>
          <a:p>
            <a:r>
              <a:rPr lang="en-US" sz="6000" b="1" dirty="0">
                <a:latin typeface="Bahnschrift SemiBold Condensed" panose="020B0502040204020203" pitchFamily="34" charset="0"/>
              </a:rPr>
              <a:t>Electric Vehicles Market Size Analysis</a:t>
            </a:r>
            <a:endParaRPr lang="en-US" sz="6000" dirty="0"/>
          </a:p>
        </p:txBody>
      </p:sp>
      <mc:AlternateContent xmlns:mc="http://schemas.openxmlformats.org/markup-compatibility/2006">
        <mc:Choice xmlns:am3d="http://schemas.microsoft.com/office/drawing/2017/model3d" Requires="am3d">
          <p:graphicFrame>
            <p:nvGraphicFramePr>
              <p:cNvPr id="4" name="3D Model 3" descr="Kodiak car black">
                <a:extLst>
                  <a:ext uri="{FF2B5EF4-FFF2-40B4-BE49-F238E27FC236}">
                    <a16:creationId xmlns:a16="http://schemas.microsoft.com/office/drawing/2014/main" id="{C9C6D755-054A-0A3B-AB17-564125D9E81F}"/>
                  </a:ext>
                </a:extLst>
              </p:cNvPr>
              <p:cNvGraphicFramePr>
                <a:graphicFrameLocks noChangeAspect="1"/>
              </p:cNvGraphicFramePr>
              <p:nvPr>
                <p:extLst>
                  <p:ext uri="{D42A27DB-BD31-4B8C-83A1-F6EECF244321}">
                    <p14:modId xmlns:p14="http://schemas.microsoft.com/office/powerpoint/2010/main" val="1484238265"/>
                  </p:ext>
                </p:extLst>
              </p:nvPr>
            </p:nvGraphicFramePr>
            <p:xfrm>
              <a:off x="3637874" y="3502740"/>
              <a:ext cx="5426997" cy="2266010"/>
            </p:xfrm>
            <a:graphic>
              <a:graphicData uri="http://schemas.microsoft.com/office/drawing/2017/model3d">
                <am3d:model3d r:embed="rId3">
                  <am3d:spPr>
                    <a:xfrm>
                      <a:off x="0" y="0"/>
                      <a:ext cx="5426997" cy="2266010"/>
                    </a:xfrm>
                    <a:prstGeom prst="rect">
                      <a:avLst/>
                    </a:prstGeom>
                  </am3d:spPr>
                  <am3d:camera>
                    <am3d:pos x="0" y="0" z="55494659"/>
                    <am3d:up dx="0" dy="36000000" dz="0"/>
                    <am3d:lookAt x="0" y="0" z="0"/>
                    <am3d:perspective fov="2700000"/>
                  </am3d:camera>
                  <am3d:trans>
                    <am3d:meterPerModelUnit n="24887857" d="1000000"/>
                    <am3d:preTrans dx="0" dy="-3482752" dz="423"/>
                    <am3d:scale>
                      <am3d:sx n="1000000" d="1000000"/>
                      <am3d:sy n="1000000" d="1000000"/>
                      <am3d:sz n="1000000" d="1000000"/>
                    </am3d:scale>
                    <am3d:rot ax="-118869" ay="2195089" az="-70862"/>
                    <am3d:postTrans dx="0" dy="0" dz="0"/>
                  </am3d:trans>
                  <am3d:raster rName="Office3DRenderer" rVer="16.0.8326">
                    <am3d:blip r:embed="rId4"/>
                  </am3d:raster>
                  <am3d:objViewport viewportSz="674090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Kodiak car black">
                <a:extLst>
                  <a:ext uri="{FF2B5EF4-FFF2-40B4-BE49-F238E27FC236}">
                    <a16:creationId xmlns:a16="http://schemas.microsoft.com/office/drawing/2014/main" id="{C9C6D755-054A-0A3B-AB17-564125D9E81F}"/>
                  </a:ext>
                </a:extLst>
              </p:cNvPr>
              <p:cNvPicPr>
                <a:picLocks noGrp="1" noRot="1" noChangeAspect="1" noMove="1" noResize="1" noEditPoints="1" noAdjustHandles="1" noChangeArrowheads="1" noChangeShapeType="1" noCrop="1"/>
              </p:cNvPicPr>
              <p:nvPr/>
            </p:nvPicPr>
            <p:blipFill>
              <a:blip r:embed="rId4"/>
              <a:stretch>
                <a:fillRect/>
              </a:stretch>
            </p:blipFill>
            <p:spPr>
              <a:xfrm>
                <a:off x="3637874" y="3502740"/>
                <a:ext cx="5426997" cy="2266010"/>
              </a:xfrm>
              <a:prstGeom prst="rect">
                <a:avLst/>
              </a:prstGeom>
            </p:spPr>
          </p:pic>
        </mc:Fallback>
      </mc:AlternateContent>
    </p:spTree>
    <p:extLst>
      <p:ext uri="{BB962C8B-B14F-4D97-AF65-F5344CB8AC3E}">
        <p14:creationId xmlns:p14="http://schemas.microsoft.com/office/powerpoint/2010/main" val="837217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39BFC33-1FF9-3450-FF32-3CC72F96CBD5}"/>
              </a:ext>
            </a:extLst>
          </p:cNvPr>
          <p:cNvGraphicFramePr/>
          <p:nvPr>
            <p:extLst>
              <p:ext uri="{D42A27DB-BD31-4B8C-83A1-F6EECF244321}">
                <p14:modId xmlns:p14="http://schemas.microsoft.com/office/powerpoint/2010/main" val="2745948755"/>
              </p:ext>
            </p:extLst>
          </p:nvPr>
        </p:nvGraphicFramePr>
        <p:xfrm>
          <a:off x="599769" y="206477"/>
          <a:ext cx="12388644" cy="64302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972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ectric Vehicles Market Size Analysis: EV Adoption Over Time">
            <a:extLst>
              <a:ext uri="{FF2B5EF4-FFF2-40B4-BE49-F238E27FC236}">
                <a16:creationId xmlns:a16="http://schemas.microsoft.com/office/drawing/2014/main" id="{70A47550-46B6-CD3E-7299-68851DEB5E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239" y="449211"/>
            <a:ext cx="6715432" cy="333148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Diagram 3">
            <a:extLst>
              <a:ext uri="{FF2B5EF4-FFF2-40B4-BE49-F238E27FC236}">
                <a16:creationId xmlns:a16="http://schemas.microsoft.com/office/drawing/2014/main" id="{17C6A059-E405-E391-11EB-3F6590C28EDA}"/>
              </a:ext>
            </a:extLst>
          </p:cNvPr>
          <p:cNvGraphicFramePr/>
          <p:nvPr>
            <p:extLst>
              <p:ext uri="{D42A27DB-BD31-4B8C-83A1-F6EECF244321}">
                <p14:modId xmlns:p14="http://schemas.microsoft.com/office/powerpoint/2010/main" val="960037185"/>
              </p:ext>
            </p:extLst>
          </p:nvPr>
        </p:nvGraphicFramePr>
        <p:xfrm>
          <a:off x="2261419" y="4149213"/>
          <a:ext cx="8170607" cy="23771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5956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op Cities in Top Counties by EV Registrations">
            <a:extLst>
              <a:ext uri="{FF2B5EF4-FFF2-40B4-BE49-F238E27FC236}">
                <a16:creationId xmlns:a16="http://schemas.microsoft.com/office/drawing/2014/main" id="{FD2D8F31-B91F-3AAE-B9E1-60DB1EA63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0186"/>
            <a:ext cx="12457471" cy="436805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Diagram 3">
            <a:extLst>
              <a:ext uri="{FF2B5EF4-FFF2-40B4-BE49-F238E27FC236}">
                <a16:creationId xmlns:a16="http://schemas.microsoft.com/office/drawing/2014/main" id="{2534E030-6330-B150-C164-16913E9B4CE2}"/>
              </a:ext>
            </a:extLst>
          </p:cNvPr>
          <p:cNvGraphicFramePr/>
          <p:nvPr>
            <p:extLst>
              <p:ext uri="{D42A27DB-BD31-4B8C-83A1-F6EECF244321}">
                <p14:modId xmlns:p14="http://schemas.microsoft.com/office/powerpoint/2010/main" val="3833052458"/>
              </p:ext>
            </p:extLst>
          </p:nvPr>
        </p:nvGraphicFramePr>
        <p:xfrm>
          <a:off x="68826" y="4227872"/>
          <a:ext cx="10805651" cy="2487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03029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op 10 Popular EV Makes">
            <a:extLst>
              <a:ext uri="{FF2B5EF4-FFF2-40B4-BE49-F238E27FC236}">
                <a16:creationId xmlns:a16="http://schemas.microsoft.com/office/drawing/2014/main" id="{91C1F371-D689-3E52-838D-C1F368FDCD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329" y="-98323"/>
            <a:ext cx="8357419" cy="41460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47059F4-E943-46DB-9A27-0BBA39CD24E3}"/>
              </a:ext>
            </a:extLst>
          </p:cNvPr>
          <p:cNvSpPr txBox="1"/>
          <p:nvPr/>
        </p:nvSpPr>
        <p:spPr>
          <a:xfrm>
            <a:off x="2418736" y="4306529"/>
            <a:ext cx="8672052" cy="2308324"/>
          </a:xfrm>
          <a:prstGeom prst="rect">
            <a:avLst/>
          </a:prstGeom>
          <a:noFill/>
        </p:spPr>
        <p:txBody>
          <a:bodyPr wrap="square">
            <a:spAutoFit/>
          </a:bodyPr>
          <a:lstStyle/>
          <a:p>
            <a:pPr algn="l">
              <a:buNone/>
            </a:pPr>
            <a:r>
              <a:rPr lang="en-US" b="0" i="0" dirty="0">
                <a:effectLst/>
                <a:latin typeface="Helvetica" panose="020B0604020202020204" pitchFamily="34" charset="0"/>
              </a:rPr>
              <a:t>The above chart shows that:</a:t>
            </a:r>
          </a:p>
          <a:p>
            <a:pPr algn="l"/>
            <a:r>
              <a:rPr lang="en-US" b="0" i="0" dirty="0">
                <a:effectLst/>
                <a:latin typeface="Helvetica" panose="020B0604020202020204" pitchFamily="34" charset="0"/>
              </a:rPr>
              <a:t>TESLA leads by a substantial margin with the highest number of vehicles registered.</a:t>
            </a:r>
          </a:p>
          <a:p>
            <a:pPr algn="l"/>
            <a:r>
              <a:rPr lang="en-US" b="0" i="0" dirty="0">
                <a:effectLst/>
                <a:latin typeface="Helvetica" panose="020B0604020202020204" pitchFamily="34" charset="0"/>
              </a:rPr>
              <a:t>NISSAN is the second most popular manufacturer, followed by CHEVROLET, though both have significantly fewer registrations than TESLA.</a:t>
            </a:r>
          </a:p>
          <a:p>
            <a:pPr algn="l">
              <a:buFont typeface="Arial" panose="020B0604020202020204" pitchFamily="34" charset="0"/>
              <a:buChar char="•"/>
            </a:pPr>
            <a:endParaRPr lang="en-US" b="0" i="0" dirty="0">
              <a:effectLst/>
              <a:latin typeface="Helvetica" panose="020B0604020202020204" pitchFamily="34" charset="0"/>
            </a:endParaRPr>
          </a:p>
          <a:p>
            <a:pPr algn="l"/>
            <a:r>
              <a:rPr lang="en-US" b="0" i="0" dirty="0">
                <a:effectLst/>
                <a:latin typeface="Helvetica" panose="020B0604020202020204" pitchFamily="34" charset="0"/>
              </a:rPr>
              <a:t>FORD, BMW, KIA, TOYOTA, VOLKSWAGEN, JEEP, and HYUNDAI follow in decreasing order of the number of registered vehicles.</a:t>
            </a:r>
          </a:p>
        </p:txBody>
      </p:sp>
    </p:spTree>
    <p:extLst>
      <p:ext uri="{BB962C8B-B14F-4D97-AF65-F5344CB8AC3E}">
        <p14:creationId xmlns:p14="http://schemas.microsoft.com/office/powerpoint/2010/main" val="1795654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lectric vehicles market size analysis: Current &amp; Estimated EV Market">
            <a:extLst>
              <a:ext uri="{FF2B5EF4-FFF2-40B4-BE49-F238E27FC236}">
                <a16:creationId xmlns:a16="http://schemas.microsoft.com/office/drawing/2014/main" id="{31774869-0C17-9520-8451-33B694A8D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73" y="0"/>
            <a:ext cx="12024853" cy="6695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327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1000"/>
            <a:lum/>
          </a:blip>
          <a:srcRect/>
          <a:tile tx="0" ty="0" sx="100000" sy="100000" flip="none" algn="tl"/>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35F7C-31DC-C6D5-BEFA-0BE7DF7A86F4}"/>
              </a:ext>
            </a:extLst>
          </p:cNvPr>
          <p:cNvSpPr txBox="1"/>
          <p:nvPr/>
        </p:nvSpPr>
        <p:spPr>
          <a:xfrm>
            <a:off x="993058" y="761433"/>
            <a:ext cx="10776155" cy="4708981"/>
          </a:xfrm>
          <a:prstGeom prst="rect">
            <a:avLst/>
          </a:prstGeom>
          <a:noFill/>
        </p:spPr>
        <p:txBody>
          <a:bodyPr wrap="square">
            <a:spAutoFit/>
          </a:bodyPr>
          <a:lstStyle/>
          <a:p>
            <a:pPr algn="l">
              <a:buNone/>
            </a:pPr>
            <a:r>
              <a:rPr lang="en-US" sz="5400" b="1" i="0" u="none" strike="noStrike" dirty="0">
                <a:solidFill>
                  <a:srgbClr val="243B56"/>
                </a:solidFill>
                <a:effectLst/>
                <a:latin typeface="-apple-system"/>
              </a:rPr>
              <a:t>                                                     Summary : </a:t>
            </a:r>
          </a:p>
          <a:p>
            <a:pPr algn="l">
              <a:buNone/>
            </a:pPr>
            <a:endParaRPr lang="en-US" sz="2400" b="1" i="0" u="none" strike="noStrike" dirty="0">
              <a:solidFill>
                <a:srgbClr val="243B56"/>
              </a:solidFill>
              <a:effectLst/>
              <a:latin typeface="-apple-system"/>
            </a:endParaRPr>
          </a:p>
          <a:p>
            <a:pPr algn="l">
              <a:buNone/>
            </a:pPr>
            <a:r>
              <a:rPr lang="en-US" sz="2400" b="0" i="0" dirty="0">
                <a:effectLst/>
                <a:latin typeface="Helvetica" panose="020B0604020202020204" pitchFamily="34" charset="0"/>
              </a:rPr>
              <a:t>So, market size analysis is a crucial aspect of market research that determines the potential sales volume within a given market. It helps businesses understand the magnitude of demand, assess market saturation levels, and identify growth opportunities. From our market size analysis of electric vehicles, we found a promising future for the EV industry, indicating a significant shift in consumer preferences and a potential increase in related investment and business opportunities.</a:t>
            </a:r>
          </a:p>
        </p:txBody>
      </p:sp>
    </p:spTree>
    <p:extLst>
      <p:ext uri="{BB962C8B-B14F-4D97-AF65-F5344CB8AC3E}">
        <p14:creationId xmlns:p14="http://schemas.microsoft.com/office/powerpoint/2010/main" val="3568673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519</Words>
  <Application>Microsoft Office PowerPoint</Application>
  <PresentationFormat>Widescreen</PresentationFormat>
  <Paragraphs>23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-apple-system</vt:lpstr>
      <vt:lpstr>Arial</vt:lpstr>
      <vt:lpstr>Bahnschrift SemiBold Condensed</vt:lpstr>
      <vt:lpstr>Calibri</vt:lpstr>
      <vt:lpstr>Calibri Light</vt:lpstr>
      <vt:lpstr>Helvetica</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Anuj Bhaisal</dc:creator>
  <cp:lastModifiedBy>Anuj Bhaisal</cp:lastModifiedBy>
  <cp:revision>1</cp:revision>
  <dcterms:created xsi:type="dcterms:W3CDTF">2025-10-31T11:55:05Z</dcterms:created>
  <dcterms:modified xsi:type="dcterms:W3CDTF">2025-10-31T12:08:29Z</dcterms:modified>
</cp:coreProperties>
</file>